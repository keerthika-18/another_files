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8" r:id="rId2"/>
    <p:sldId id="259" r:id="rId3"/>
    <p:sldId id="260" r:id="rId4"/>
    <p:sldId id="261" r:id="rId5"/>
    <p:sldId id="262" r:id="rId6"/>
    <p:sldId id="263" r:id="rId7"/>
    <p:sldId id="264" r:id="rId8"/>
    <p:sldId id="265" r:id="rId9"/>
    <p:sldId id="266" r:id="rId10"/>
    <p:sldId id="267" r:id="rId1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99F"/>
    <a:srgbClr val="F8F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0" autoAdjust="0"/>
    <p:restoredTop sz="94660"/>
  </p:normalViewPr>
  <p:slideViewPr>
    <p:cSldViewPr snapToObjects="1">
      <p:cViewPr>
        <p:scale>
          <a:sx n="100" d="100"/>
          <a:sy n="100" d="100"/>
        </p:scale>
        <p:origin x="-100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0A868646-8618-4424-A264-366B82040A45}" type="datetimeFigureOut">
              <a:rPr lang="en-US"/>
              <a:pPr>
                <a:defRPr/>
              </a:pPr>
              <a:t>3/17/2017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49488808-2AB9-4795-99EA-FEB5E4F57D53}" type="slidenum">
              <a:rPr lang="en-US"/>
              <a:pPr>
                <a:defRPr/>
              </a:pPr>
              <a:t>‹#›</a:t>
            </a:fld>
            <a:endParaRPr lang="en-US"/>
          </a:p>
        </p:txBody>
      </p:sp>
    </p:spTree>
    <p:extLst>
      <p:ext uri="{BB962C8B-B14F-4D97-AF65-F5344CB8AC3E}">
        <p14:creationId xmlns:p14="http://schemas.microsoft.com/office/powerpoint/2010/main" val="93190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4DC47AEE-30C5-423B-9F79-D2E45297BD69}" type="datetimeFigureOut">
              <a:rPr lang="en-US"/>
              <a:pPr>
                <a:defRPr/>
              </a:pPr>
              <a:t>3/17/2017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C0D38A5C-BEF9-461D-B0A7-84679C58E0B5}" type="slidenum">
              <a:rPr lang="en-US"/>
              <a:pPr>
                <a:defRPr/>
              </a:pPr>
              <a:t>‹#›</a:t>
            </a:fld>
            <a:endParaRPr lang="en-US"/>
          </a:p>
        </p:txBody>
      </p:sp>
    </p:spTree>
    <p:extLst>
      <p:ext uri="{BB962C8B-B14F-4D97-AF65-F5344CB8AC3E}">
        <p14:creationId xmlns:p14="http://schemas.microsoft.com/office/powerpoint/2010/main" val="1598805404"/>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1" descr="PPTSlideDesignLogo.jpg"/>
          <p:cNvPicPr>
            <a:picLocks noChangeAspect="1"/>
          </p:cNvPicPr>
          <p:nvPr userDrawn="1"/>
        </p:nvPicPr>
        <p:blipFill>
          <a:blip r:embed="rId2"/>
          <a:srcRect/>
          <a:stretch>
            <a:fillRect/>
          </a:stretch>
        </p:blipFill>
        <p:spPr bwMode="auto">
          <a:xfrm>
            <a:off x="536575" y="2581275"/>
            <a:ext cx="1692275" cy="1698625"/>
          </a:xfrm>
          <a:prstGeom prst="rect">
            <a:avLst/>
          </a:prstGeom>
          <a:noFill/>
          <a:ln w="9525">
            <a:noFill/>
            <a:miter lim="800000"/>
            <a:headEnd/>
            <a:tailEnd/>
          </a:ln>
        </p:spPr>
      </p:pic>
      <p:cxnSp>
        <p:nvCxnSpPr>
          <p:cNvPr id="6" name="Straight Connector 5"/>
          <p:cNvCxnSpPr/>
          <p:nvPr userDrawn="1"/>
        </p:nvCxnSpPr>
        <p:spPr>
          <a:xfrm>
            <a:off x="2362200" y="3429000"/>
            <a:ext cx="64008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8" name="Title 16"/>
          <p:cNvSpPr>
            <a:spLocks noGrp="1"/>
          </p:cNvSpPr>
          <p:nvPr>
            <p:ph type="title"/>
          </p:nvPr>
        </p:nvSpPr>
        <p:spPr>
          <a:xfrm>
            <a:off x="2362200" y="1295400"/>
            <a:ext cx="6400800" cy="2130700"/>
          </a:xfrm>
          <a:prstGeom prst="rect">
            <a:avLst/>
          </a:prstGeom>
        </p:spPr>
        <p:txBody>
          <a:bodyPr vert="horz" anchor="b"/>
          <a:lstStyle>
            <a:lvl1pPr algn="l">
              <a:defRPr sz="3600" b="1" i="0" spc="-70">
                <a:solidFill>
                  <a:srgbClr val="000000"/>
                </a:solidFill>
                <a:latin typeface="Arial Bold"/>
                <a:cs typeface="Arial Bold"/>
              </a:defRPr>
            </a:lvl1pPr>
          </a:lstStyle>
          <a:p>
            <a:r>
              <a:rPr lang="en-US" smtClean="0"/>
              <a:t>Click to edit Master title style</a:t>
            </a:r>
            <a:endParaRPr lang="en-US" dirty="0"/>
          </a:p>
        </p:txBody>
      </p:sp>
      <p:sp>
        <p:nvSpPr>
          <p:cNvPr id="23" name="Text Placeholder 21"/>
          <p:cNvSpPr>
            <a:spLocks noGrp="1"/>
          </p:cNvSpPr>
          <p:nvPr>
            <p:ph type="body" sz="quarter" idx="11"/>
          </p:nvPr>
        </p:nvSpPr>
        <p:spPr>
          <a:xfrm>
            <a:off x="2386013" y="3429000"/>
            <a:ext cx="6453187" cy="457200"/>
          </a:xfrm>
          <a:prstGeom prst="rect">
            <a:avLst/>
          </a:prstGeom>
        </p:spPr>
        <p:txBody>
          <a:bodyPr vert="horz" anchor="t"/>
          <a:lstStyle>
            <a:lvl1pPr algn="r">
              <a:buNone/>
              <a:defRPr sz="1100" b="1" i="0">
                <a:solidFill>
                  <a:srgbClr val="000000"/>
                </a:solidFill>
                <a:latin typeface="Arial Bold"/>
                <a:cs typeface="Arial Bold"/>
              </a:defRPr>
            </a:lvl1pPr>
            <a:lvl2pPr algn="r">
              <a:buNone/>
              <a:defRPr sz="1100" b="0" i="0">
                <a:solidFill>
                  <a:srgbClr val="000000"/>
                </a:solidFill>
                <a:latin typeface="Arial Bold"/>
                <a:cs typeface="Arial Bold"/>
              </a:defRPr>
            </a:lvl2pPr>
            <a:lvl3pPr algn="r">
              <a:buNone/>
              <a:defRPr sz="1100" b="0" i="0">
                <a:solidFill>
                  <a:schemeClr val="bg1"/>
                </a:solidFill>
                <a:latin typeface="Arial Bold"/>
                <a:cs typeface="Arial Bold"/>
              </a:defRPr>
            </a:lvl3pPr>
            <a:lvl4pPr algn="r">
              <a:buNone/>
              <a:defRPr sz="1100" b="0" i="0">
                <a:solidFill>
                  <a:schemeClr val="bg1"/>
                </a:solidFill>
                <a:latin typeface="Arial Bold"/>
                <a:cs typeface="Arial Bold"/>
              </a:defRPr>
            </a:lvl4pPr>
            <a:lvl5pPr algn="r">
              <a:buNone/>
              <a:defRPr sz="1100" b="0" i="0">
                <a:solidFill>
                  <a:schemeClr val="bg1"/>
                </a:solidFill>
                <a:latin typeface="Arial Bold"/>
                <a:cs typeface="Arial Bold"/>
              </a:defRPr>
            </a:lvl5pPr>
          </a:lstStyle>
          <a:p>
            <a:pPr lvl="0"/>
            <a:r>
              <a:rPr lang="en-US" smtClean="0"/>
              <a:t>Click to edit Master text styles</a:t>
            </a:r>
          </a:p>
          <a:p>
            <a:pPr lvl="1"/>
            <a:r>
              <a:rPr lang="en-US" smtClean="0"/>
              <a:t>Second level</a:t>
            </a:r>
          </a:p>
        </p:txBody>
      </p:sp>
      <p:sp>
        <p:nvSpPr>
          <p:cNvPr id="25" name="Text Placeholder 21"/>
          <p:cNvSpPr>
            <a:spLocks noGrp="1"/>
          </p:cNvSpPr>
          <p:nvPr>
            <p:ph type="body" sz="quarter" idx="12"/>
          </p:nvPr>
        </p:nvSpPr>
        <p:spPr>
          <a:xfrm>
            <a:off x="6019800" y="3810000"/>
            <a:ext cx="2819400" cy="304800"/>
          </a:xfrm>
          <a:prstGeom prst="rect">
            <a:avLst/>
          </a:prstGeom>
        </p:spPr>
        <p:txBody>
          <a:bodyPr vert="horz" anchor="t"/>
          <a:lstStyle>
            <a:lvl1pPr algn="r">
              <a:buNone/>
              <a:defRPr sz="1100" b="0" i="0">
                <a:solidFill>
                  <a:srgbClr val="000000"/>
                </a:solidFill>
                <a:latin typeface="Arial Bold"/>
                <a:cs typeface="Arial Bold"/>
              </a:defRPr>
            </a:lvl1pPr>
            <a:lvl2pPr algn="r">
              <a:buNone/>
              <a:defRPr sz="1100" b="0" i="0">
                <a:solidFill>
                  <a:schemeClr val="bg1"/>
                </a:solidFill>
                <a:latin typeface="Arial Bold"/>
                <a:cs typeface="Arial Bold"/>
              </a:defRPr>
            </a:lvl2pPr>
            <a:lvl3pPr algn="r">
              <a:buNone/>
              <a:defRPr sz="1100" b="0" i="0">
                <a:solidFill>
                  <a:schemeClr val="bg1"/>
                </a:solidFill>
                <a:latin typeface="Arial Bold"/>
                <a:cs typeface="Arial Bold"/>
              </a:defRPr>
            </a:lvl3pPr>
            <a:lvl4pPr algn="r">
              <a:buNone/>
              <a:defRPr sz="1100" b="0" i="0">
                <a:solidFill>
                  <a:schemeClr val="bg1"/>
                </a:solidFill>
                <a:latin typeface="Arial Bold"/>
                <a:cs typeface="Arial Bold"/>
              </a:defRPr>
            </a:lvl4pPr>
            <a:lvl5pPr algn="r">
              <a:buNone/>
              <a:defRPr sz="1100" b="0" i="0">
                <a:solidFill>
                  <a:schemeClr val="bg1"/>
                </a:solidFill>
                <a:latin typeface="Arial Bold"/>
                <a:cs typeface="Arial Bold"/>
              </a:defRPr>
            </a:lvl5pPr>
          </a:lstStyle>
          <a:p>
            <a:pPr lvl="0"/>
            <a:r>
              <a:rPr lang="en-US" smtClean="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1447800" y="4343400"/>
            <a:ext cx="6172200" cy="15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Picture 2" descr="PPTSlideDesignLogo.jpg"/>
          <p:cNvPicPr>
            <a:picLocks noChangeAspect="1"/>
          </p:cNvPicPr>
          <p:nvPr userDrawn="1"/>
        </p:nvPicPr>
        <p:blipFill>
          <a:blip r:embed="rId2"/>
          <a:srcRect/>
          <a:stretch>
            <a:fillRect/>
          </a:stretch>
        </p:blipFill>
        <p:spPr bwMode="auto">
          <a:xfrm>
            <a:off x="3736975" y="965200"/>
            <a:ext cx="1692275" cy="1698625"/>
          </a:xfrm>
          <a:prstGeom prst="rect">
            <a:avLst/>
          </a:prstGeom>
          <a:noFill/>
          <a:ln w="9525">
            <a:noFill/>
            <a:miter lim="800000"/>
            <a:headEnd/>
            <a:tailEnd/>
          </a:ln>
        </p:spPr>
      </p:pic>
      <p:sp>
        <p:nvSpPr>
          <p:cNvPr id="7" name="Title 16"/>
          <p:cNvSpPr>
            <a:spLocks noGrp="1"/>
          </p:cNvSpPr>
          <p:nvPr>
            <p:ph type="title"/>
          </p:nvPr>
        </p:nvSpPr>
        <p:spPr>
          <a:xfrm>
            <a:off x="1371600" y="2819400"/>
            <a:ext cx="6400800" cy="1521100"/>
          </a:xfrm>
          <a:prstGeom prst="rect">
            <a:avLst/>
          </a:prstGeom>
        </p:spPr>
        <p:txBody>
          <a:bodyPr vert="horz" anchor="b"/>
          <a:lstStyle>
            <a:lvl1pPr algn="ctr">
              <a:defRPr sz="3600" b="1" i="0" spc="-70">
                <a:solidFill>
                  <a:srgbClr val="000000"/>
                </a:solidFill>
                <a:latin typeface="Arial Bold"/>
                <a:cs typeface="Arial Bold"/>
              </a:defRPr>
            </a:lvl1pPr>
          </a:lstStyle>
          <a:p>
            <a:r>
              <a:rPr lang="en-US" smtClean="0"/>
              <a:t>Click to edit Master title style</a:t>
            </a:r>
            <a:endParaRPr lang="en-US" dirty="0"/>
          </a:p>
        </p:txBody>
      </p:sp>
      <p:sp>
        <p:nvSpPr>
          <p:cNvPr id="10" name="Text Placeholder 21"/>
          <p:cNvSpPr>
            <a:spLocks noGrp="1"/>
          </p:cNvSpPr>
          <p:nvPr>
            <p:ph type="body" sz="quarter" idx="11"/>
          </p:nvPr>
        </p:nvSpPr>
        <p:spPr>
          <a:xfrm>
            <a:off x="1395413" y="4343400"/>
            <a:ext cx="6376987" cy="457200"/>
          </a:xfrm>
          <a:prstGeom prst="rect">
            <a:avLst/>
          </a:prstGeom>
        </p:spPr>
        <p:txBody>
          <a:bodyPr vert="horz" anchor="t"/>
          <a:lstStyle>
            <a:lvl1pPr algn="ctr">
              <a:buNone/>
              <a:defRPr sz="1100" b="1" i="0">
                <a:solidFill>
                  <a:srgbClr val="000000"/>
                </a:solidFill>
                <a:latin typeface="Arial Bold"/>
                <a:cs typeface="Arial Bold"/>
              </a:defRPr>
            </a:lvl1pPr>
            <a:lvl2pPr algn="ctr">
              <a:buNone/>
              <a:defRPr sz="1100" b="0" i="0">
                <a:solidFill>
                  <a:schemeClr val="bg1"/>
                </a:solidFill>
                <a:latin typeface="Arial Bold"/>
                <a:cs typeface="Arial Bold"/>
              </a:defRPr>
            </a:lvl2pPr>
            <a:lvl3pPr algn="ctr">
              <a:buNone/>
              <a:defRPr sz="1100" b="0" i="0">
                <a:solidFill>
                  <a:schemeClr val="bg1"/>
                </a:solidFill>
                <a:latin typeface="Arial Bold"/>
                <a:cs typeface="Arial Bold"/>
              </a:defRPr>
            </a:lvl3pPr>
            <a:lvl4pPr algn="r">
              <a:buNone/>
              <a:defRPr sz="1100" b="0" i="0">
                <a:solidFill>
                  <a:schemeClr val="bg1"/>
                </a:solidFill>
                <a:latin typeface="Arial Bold"/>
                <a:cs typeface="Arial Bold"/>
              </a:defRPr>
            </a:lvl4pPr>
            <a:lvl5pPr algn="r">
              <a:buNone/>
              <a:defRPr sz="1100" b="0" i="0">
                <a:solidFill>
                  <a:schemeClr val="bg1"/>
                </a:solidFill>
                <a:latin typeface="Arial Bold"/>
                <a:cs typeface="Arial Bold"/>
              </a:defRPr>
            </a:lvl5pPr>
          </a:lstStyle>
          <a:p>
            <a:pPr lvl="0"/>
            <a:r>
              <a:rPr lang="en-US" smtClean="0"/>
              <a:t>Click to edit Master text styles</a:t>
            </a:r>
          </a:p>
          <a:p>
            <a:pPr lvl="1"/>
            <a:r>
              <a:rPr lang="en-US" smtClean="0"/>
              <a:t>Second level</a:t>
            </a:r>
          </a:p>
        </p:txBody>
      </p:sp>
      <p:sp>
        <p:nvSpPr>
          <p:cNvPr id="11" name="Text Placeholder 21"/>
          <p:cNvSpPr>
            <a:spLocks noGrp="1"/>
          </p:cNvSpPr>
          <p:nvPr>
            <p:ph type="body" sz="quarter" idx="12"/>
          </p:nvPr>
        </p:nvSpPr>
        <p:spPr>
          <a:xfrm>
            <a:off x="1395413" y="4724400"/>
            <a:ext cx="6376987" cy="381000"/>
          </a:xfrm>
          <a:prstGeom prst="rect">
            <a:avLst/>
          </a:prstGeom>
        </p:spPr>
        <p:txBody>
          <a:bodyPr vert="horz" anchor="t"/>
          <a:lstStyle>
            <a:lvl1pPr algn="ctr">
              <a:buNone/>
              <a:defRPr sz="1100" b="0" i="0">
                <a:solidFill>
                  <a:srgbClr val="000000"/>
                </a:solidFill>
                <a:latin typeface="Arial Bold"/>
                <a:cs typeface="Arial Bold"/>
              </a:defRPr>
            </a:lvl1pPr>
            <a:lvl2pPr algn="ctr">
              <a:buNone/>
              <a:defRPr sz="1100" b="0" i="0">
                <a:solidFill>
                  <a:schemeClr val="bg1"/>
                </a:solidFill>
                <a:latin typeface="Arial Bold"/>
                <a:cs typeface="Arial Bold"/>
              </a:defRPr>
            </a:lvl2pPr>
            <a:lvl3pPr algn="ctr">
              <a:buNone/>
              <a:defRPr sz="1100" b="0" i="0">
                <a:solidFill>
                  <a:schemeClr val="bg1"/>
                </a:solidFill>
                <a:latin typeface="Arial Bold"/>
                <a:cs typeface="Arial Bold"/>
              </a:defRPr>
            </a:lvl3pPr>
            <a:lvl4pPr algn="r">
              <a:buNone/>
              <a:defRPr sz="1100" b="0" i="0">
                <a:solidFill>
                  <a:schemeClr val="bg1"/>
                </a:solidFill>
                <a:latin typeface="Arial Bold"/>
                <a:cs typeface="Arial Bold"/>
              </a:defRPr>
            </a:lvl4pPr>
            <a:lvl5pPr algn="r">
              <a:buNone/>
              <a:defRPr sz="1100" b="0" i="0">
                <a:solidFill>
                  <a:schemeClr val="bg1"/>
                </a:solidFill>
                <a:latin typeface="Arial Bold"/>
                <a:cs typeface="Arial Bold"/>
              </a:defRPr>
            </a:lvl5pPr>
          </a:lstStyle>
          <a:p>
            <a:pPr lvl="0"/>
            <a:r>
              <a:rPr lang="en-US" smtClean="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4" name="Picture 1" descr="h_Strata_TKO_Process.eps"/>
          <p:cNvPicPr>
            <a:picLocks noChangeAspect="1"/>
          </p:cNvPicPr>
          <p:nvPr userDrawn="1"/>
        </p:nvPicPr>
        <p:blipFill>
          <a:blip r:embed="rId2"/>
          <a:srcRect/>
          <a:stretch>
            <a:fillRect/>
          </a:stretch>
        </p:blipFill>
        <p:spPr bwMode="auto">
          <a:xfrm>
            <a:off x="7056438" y="6137275"/>
            <a:ext cx="1858962" cy="495300"/>
          </a:xfrm>
          <a:prstGeom prst="rect">
            <a:avLst/>
          </a:prstGeom>
          <a:noFill/>
          <a:ln w="9525">
            <a:noFill/>
            <a:miter lim="800000"/>
            <a:headEnd/>
            <a:tailEnd/>
          </a:ln>
        </p:spPr>
      </p:pic>
      <p:sp>
        <p:nvSpPr>
          <p:cNvPr id="6" name="Title 4"/>
          <p:cNvSpPr>
            <a:spLocks noGrp="1"/>
          </p:cNvSpPr>
          <p:nvPr>
            <p:ph type="title"/>
          </p:nvPr>
        </p:nvSpPr>
        <p:spPr>
          <a:xfrm>
            <a:off x="457200" y="228600"/>
            <a:ext cx="8458200" cy="1143000"/>
          </a:xfrm>
          <a:prstGeom prst="rect">
            <a:avLst/>
          </a:prstGeom>
        </p:spPr>
        <p:txBody>
          <a:bodyPr vert="horz" anchor="t"/>
          <a:lstStyle>
            <a:lvl1pPr algn="l">
              <a:defRPr sz="3000" b="1" i="0">
                <a:solidFill>
                  <a:srgbClr val="000000"/>
                </a:solidFill>
                <a:latin typeface="Arial Bold"/>
                <a:cs typeface="Arial Bold"/>
              </a:defRPr>
            </a:lvl1pPr>
          </a:lstStyle>
          <a:p>
            <a:r>
              <a:rPr lang="en-US" smtClean="0"/>
              <a:t>Click to edit Master title style</a:t>
            </a:r>
            <a:endParaRPr lang="en-US" dirty="0"/>
          </a:p>
        </p:txBody>
      </p:sp>
      <p:sp>
        <p:nvSpPr>
          <p:cNvPr id="11" name="Text Placeholder 9"/>
          <p:cNvSpPr>
            <a:spLocks noGrp="1"/>
          </p:cNvSpPr>
          <p:nvPr>
            <p:ph type="body" sz="quarter" idx="10"/>
          </p:nvPr>
        </p:nvSpPr>
        <p:spPr>
          <a:xfrm>
            <a:off x="914400" y="1371600"/>
            <a:ext cx="7315200" cy="4648200"/>
          </a:xfrm>
          <a:prstGeom prst="rect">
            <a:avLst/>
          </a:prstGeom>
        </p:spPr>
        <p:txBody>
          <a:bodyPr vert="horz" anchor="ctr"/>
          <a:lstStyle>
            <a:lvl1pPr marL="91440" indent="0" algn="l">
              <a:spcAft>
                <a:spcPts val="0"/>
              </a:spcAft>
              <a:buFont typeface="Arial"/>
              <a:buNone/>
              <a:defRPr sz="2000" b="0" i="0">
                <a:solidFill>
                  <a:srgbClr val="000000"/>
                </a:solidFill>
                <a:latin typeface="Arial Bold"/>
                <a:cs typeface="Arial Bold"/>
              </a:defRPr>
            </a:lvl1pPr>
            <a:lvl2pPr marL="740664" indent="-365760" algn="l">
              <a:spcBef>
                <a:spcPts val="408"/>
              </a:spcBef>
              <a:spcAft>
                <a:spcPts val="0"/>
              </a:spcAft>
              <a:buClr>
                <a:schemeClr val="tx1"/>
              </a:buClr>
              <a:buFont typeface="Arial"/>
              <a:buChar char="•"/>
              <a:defRPr sz="1700" b="0" i="0">
                <a:solidFill>
                  <a:srgbClr val="000000"/>
                </a:solidFill>
                <a:latin typeface="Arial Bold"/>
                <a:cs typeface="Arial Bold"/>
              </a:defRPr>
            </a:lvl2pPr>
            <a:lvl3pPr indent="-365760" algn="l">
              <a:spcAft>
                <a:spcPts val="0"/>
              </a:spcAft>
              <a:buClr>
                <a:schemeClr val="tx1"/>
              </a:buClr>
              <a:buFont typeface="Arial"/>
              <a:buChar char="•"/>
              <a:defRPr sz="1700" b="0" i="0">
                <a:solidFill>
                  <a:srgbClr val="000000"/>
                </a:solidFill>
                <a:latin typeface="Arial Bold"/>
                <a:cs typeface="Arial Bold"/>
              </a:defRPr>
            </a:lvl3pPr>
            <a:lvl4pPr indent="-365760" algn="l">
              <a:spcAft>
                <a:spcPts val="0"/>
              </a:spcAft>
              <a:buClr>
                <a:schemeClr val="tx1"/>
              </a:buClr>
              <a:buFont typeface="Arial"/>
              <a:buChar char="•"/>
              <a:defRPr sz="1700" b="0" i="0">
                <a:solidFill>
                  <a:srgbClr val="000000"/>
                </a:solidFill>
                <a:latin typeface="Arial Bold"/>
                <a:cs typeface="Arial Bold"/>
              </a:defRPr>
            </a:lvl4pPr>
            <a:lvl5pPr indent="-365760" algn="l">
              <a:spcAft>
                <a:spcPts val="0"/>
              </a:spcAft>
              <a:buClr>
                <a:schemeClr val="tx1"/>
              </a:buClr>
              <a:buFont typeface="Arial"/>
              <a:buChar char="•"/>
              <a:defRPr sz="1700" b="0" i="0">
                <a:solidFill>
                  <a:srgbClr val="000000"/>
                </a:solidFill>
                <a:latin typeface="Arial Bold"/>
                <a:cs typeface="Arial Bold"/>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1" descr="h_Strata_TKO_Process.eps"/>
          <p:cNvPicPr>
            <a:picLocks noChangeAspect="1"/>
          </p:cNvPicPr>
          <p:nvPr userDrawn="1"/>
        </p:nvPicPr>
        <p:blipFill>
          <a:blip r:embed="rId2"/>
          <a:srcRect/>
          <a:stretch>
            <a:fillRect/>
          </a:stretch>
        </p:blipFill>
        <p:spPr bwMode="auto">
          <a:xfrm>
            <a:off x="7056438" y="6137275"/>
            <a:ext cx="1858962" cy="495300"/>
          </a:xfrm>
          <a:prstGeom prst="rect">
            <a:avLst/>
          </a:prstGeom>
          <a:noFill/>
          <a:ln w="9525">
            <a:noFill/>
            <a:miter lim="800000"/>
            <a:headEnd/>
            <a:tailEnd/>
          </a:ln>
        </p:spPr>
      </p:pic>
      <p:sp>
        <p:nvSpPr>
          <p:cNvPr id="12" name="Title 4"/>
          <p:cNvSpPr>
            <a:spLocks noGrp="1"/>
          </p:cNvSpPr>
          <p:nvPr>
            <p:ph type="title"/>
          </p:nvPr>
        </p:nvSpPr>
        <p:spPr>
          <a:xfrm>
            <a:off x="457200" y="228600"/>
            <a:ext cx="8458200" cy="1143000"/>
          </a:xfrm>
          <a:prstGeom prst="rect">
            <a:avLst/>
          </a:prstGeom>
        </p:spPr>
        <p:txBody>
          <a:bodyPr vert="horz" anchor="t"/>
          <a:lstStyle>
            <a:lvl1pPr algn="l">
              <a:defRPr sz="3000" b="1" i="0">
                <a:solidFill>
                  <a:srgbClr val="000000"/>
                </a:solidFill>
                <a:latin typeface="Arial Bold"/>
                <a:cs typeface="Arial Bold"/>
              </a:defRPr>
            </a:lvl1pPr>
          </a:lstStyle>
          <a:p>
            <a:r>
              <a:rPr lang="en-US" smtClean="0"/>
              <a:t>Click to edit Master title style</a:t>
            </a:r>
            <a:endParaRPr lang="en-US" dirty="0"/>
          </a:p>
        </p:txBody>
      </p:sp>
      <p:sp>
        <p:nvSpPr>
          <p:cNvPr id="15" name="Text Placeholder 9"/>
          <p:cNvSpPr>
            <a:spLocks noGrp="1"/>
          </p:cNvSpPr>
          <p:nvPr>
            <p:ph type="body" sz="quarter" idx="10"/>
          </p:nvPr>
        </p:nvSpPr>
        <p:spPr>
          <a:xfrm>
            <a:off x="914400" y="1371600"/>
            <a:ext cx="7315200" cy="4648200"/>
          </a:xfrm>
          <a:prstGeom prst="rect">
            <a:avLst/>
          </a:prstGeom>
        </p:spPr>
        <p:txBody>
          <a:bodyPr vert="horz" anchor="ctr"/>
          <a:lstStyle>
            <a:lvl1pPr algn="l">
              <a:buClr>
                <a:schemeClr val="tx1"/>
              </a:buClr>
              <a:buFont typeface="Arial"/>
              <a:buChar char="•"/>
              <a:defRPr sz="2000" b="0" i="0">
                <a:solidFill>
                  <a:srgbClr val="000000"/>
                </a:solidFill>
                <a:latin typeface="Arial Bold"/>
                <a:cs typeface="Arial Bold"/>
              </a:defRPr>
            </a:lvl1pPr>
            <a:lvl2pPr algn="l">
              <a:buClr>
                <a:schemeClr val="tx1"/>
              </a:buClr>
              <a:buSzPct val="125000"/>
              <a:buFont typeface="Lucida Grande"/>
              <a:buChar char="-"/>
              <a:defRPr sz="1700" b="0" i="0">
                <a:solidFill>
                  <a:srgbClr val="000000"/>
                </a:solidFill>
                <a:latin typeface="Arial Bold"/>
                <a:cs typeface="Arial Bold"/>
              </a:defRPr>
            </a:lvl2pPr>
            <a:lvl3pPr algn="l">
              <a:buClr>
                <a:schemeClr val="tx1"/>
              </a:buClr>
              <a:buSzPct val="85000"/>
              <a:buFont typeface="Arial"/>
              <a:buChar char="•"/>
              <a:defRPr sz="1700" b="0" i="0">
                <a:solidFill>
                  <a:srgbClr val="000000"/>
                </a:solidFill>
                <a:latin typeface="Arial Bold"/>
                <a:cs typeface="Arial Bold"/>
              </a:defRPr>
            </a:lvl3pPr>
            <a:lvl4pPr algn="l">
              <a:buClr>
                <a:schemeClr val="tx1"/>
              </a:buClr>
              <a:buSzPct val="85000"/>
              <a:buFont typeface="Lucida Grande"/>
              <a:buChar char="-"/>
              <a:defRPr sz="1700" b="0" i="0">
                <a:solidFill>
                  <a:srgbClr val="000000"/>
                </a:solidFill>
                <a:latin typeface="Arial Bold"/>
                <a:cs typeface="Arial Bold"/>
              </a:defRPr>
            </a:lvl4pPr>
            <a:lvl5pPr algn="l">
              <a:buClr>
                <a:schemeClr val="tx1"/>
              </a:buClr>
              <a:buSzPct val="85000"/>
              <a:buFont typeface="Arial"/>
              <a:buChar char="•"/>
              <a:defRPr sz="1700" b="0" i="0">
                <a:solidFill>
                  <a:srgbClr val="000000"/>
                </a:solidFill>
                <a:latin typeface="Arial Bold"/>
                <a:cs typeface="Arial Bold"/>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p:cNvSpPr txBox="1"/>
          <p:nvPr userDrawn="1"/>
        </p:nvSpPr>
        <p:spPr>
          <a:xfrm>
            <a:off x="-838200" y="225425"/>
            <a:ext cx="76200" cy="369888"/>
          </a:xfrm>
          <a:prstGeom prst="rect">
            <a:avLst/>
          </a:prstGeom>
          <a:noFill/>
        </p:spPr>
        <p:txBody>
          <a:bodyPr>
            <a:spAutoFit/>
          </a:bodyPr>
          <a:lstStyle/>
          <a:p>
            <a:pPr fontAlgn="auto">
              <a:spcBef>
                <a:spcPts val="0"/>
              </a:spcBef>
              <a:spcAft>
                <a:spcPts val="0"/>
              </a:spcAft>
              <a:defRPr/>
            </a:pPr>
            <a:endParaRPr lang="en-US" dirty="0">
              <a:latin typeface="+mn-lt"/>
              <a:cs typeface="+mn-cs"/>
            </a:endParaRPr>
          </a:p>
        </p:txBody>
      </p:sp>
      <p:pic>
        <p:nvPicPr>
          <p:cNvPr id="6" name="Picture 2" descr="h_Strata_TKO_Process.eps"/>
          <p:cNvPicPr>
            <a:picLocks noChangeAspect="1"/>
          </p:cNvPicPr>
          <p:nvPr userDrawn="1"/>
        </p:nvPicPr>
        <p:blipFill>
          <a:blip r:embed="rId2"/>
          <a:srcRect/>
          <a:stretch>
            <a:fillRect/>
          </a:stretch>
        </p:blipFill>
        <p:spPr bwMode="auto">
          <a:xfrm>
            <a:off x="7056438" y="6137275"/>
            <a:ext cx="1858962" cy="495300"/>
          </a:xfrm>
          <a:prstGeom prst="rect">
            <a:avLst/>
          </a:prstGeom>
          <a:noFill/>
          <a:ln w="9525">
            <a:noFill/>
            <a:miter lim="800000"/>
            <a:headEnd/>
            <a:tailEnd/>
          </a:ln>
        </p:spPr>
      </p:pic>
      <p:sp>
        <p:nvSpPr>
          <p:cNvPr id="14" name="Picture Placeholder 12"/>
          <p:cNvSpPr>
            <a:spLocks noGrp="1"/>
          </p:cNvSpPr>
          <p:nvPr>
            <p:ph type="pic" sz="quarter" idx="14"/>
          </p:nvPr>
        </p:nvSpPr>
        <p:spPr>
          <a:xfrm>
            <a:off x="912813" y="1346200"/>
            <a:ext cx="3430587" cy="4597400"/>
          </a:xfrm>
          <a:prstGeom prst="rect">
            <a:avLst/>
          </a:prstGeom>
          <a:ln w="0" cap="flat" cmpd="sng" algn="ctr">
            <a:noFill/>
            <a:prstDash val="solid"/>
            <a:round/>
            <a:headEnd type="none" w="med" len="med"/>
            <a:tailEnd type="none" w="med" len="med"/>
          </a:ln>
          <a:effectLst/>
        </p:spPr>
        <p:txBody>
          <a:bodyPr vert="horz"/>
          <a:lstStyle>
            <a:lvl1pPr>
              <a:defRPr>
                <a:solidFill>
                  <a:srgbClr val="000000"/>
                </a:solidFill>
              </a:defRPr>
            </a:lvl1pPr>
          </a:lstStyle>
          <a:p>
            <a:pPr lvl="0"/>
            <a:r>
              <a:rPr lang="en-US" noProof="0" smtClean="0"/>
              <a:t>Click icon to add picture</a:t>
            </a:r>
            <a:endParaRPr lang="en-US" noProof="0"/>
          </a:p>
        </p:txBody>
      </p:sp>
      <p:sp>
        <p:nvSpPr>
          <p:cNvPr id="16" name="Text Placeholder 15"/>
          <p:cNvSpPr>
            <a:spLocks noGrp="1"/>
          </p:cNvSpPr>
          <p:nvPr>
            <p:ph type="body" sz="quarter" idx="15"/>
          </p:nvPr>
        </p:nvSpPr>
        <p:spPr>
          <a:xfrm>
            <a:off x="4876800" y="1346200"/>
            <a:ext cx="3505200" cy="4597400"/>
          </a:xfrm>
          <a:prstGeom prst="rect">
            <a:avLst/>
          </a:prstGeom>
        </p:spPr>
        <p:txBody>
          <a:bodyPr vert="horz" anchor="b"/>
          <a:lstStyle>
            <a:lvl1pPr marL="0" indent="0">
              <a:buNone/>
              <a:defRPr sz="1700" b="0" i="0">
                <a:solidFill>
                  <a:srgbClr val="000000"/>
                </a:solidFill>
                <a:latin typeface="Arial Bold"/>
                <a:cs typeface="Arial Bold"/>
              </a:defRPr>
            </a:lvl1pPr>
            <a:lvl2pPr>
              <a:buNone/>
              <a:defRPr sz="1700" b="0" i="0">
                <a:solidFill>
                  <a:srgbClr val="FFFFFF"/>
                </a:solidFill>
                <a:latin typeface="Arial Bold"/>
                <a:cs typeface="Arial Bold"/>
              </a:defRPr>
            </a:lvl2pPr>
            <a:lvl3pPr>
              <a:buNone/>
              <a:defRPr sz="1700" b="0" i="0">
                <a:solidFill>
                  <a:srgbClr val="FFFFFF"/>
                </a:solidFill>
                <a:latin typeface="Arial Bold"/>
                <a:cs typeface="Arial Bold"/>
              </a:defRPr>
            </a:lvl3pPr>
            <a:lvl4pPr>
              <a:buNone/>
              <a:defRPr sz="1700" b="0" i="0">
                <a:solidFill>
                  <a:srgbClr val="FFFFFF"/>
                </a:solidFill>
                <a:latin typeface="Arial Bold"/>
                <a:cs typeface="Arial Bold"/>
              </a:defRPr>
            </a:lvl4pPr>
            <a:lvl5pPr>
              <a:buNone/>
              <a:defRPr sz="1700" b="0" i="0">
                <a:solidFill>
                  <a:srgbClr val="FFFFFF"/>
                </a:solidFill>
                <a:latin typeface="Arial Bold"/>
                <a:cs typeface="Arial Bold"/>
              </a:defRPr>
            </a:lvl5pPr>
          </a:lstStyle>
          <a:p>
            <a:pPr lvl="0"/>
            <a:r>
              <a:rPr lang="en-US" smtClean="0"/>
              <a:t>Click to edit Master text styles</a:t>
            </a:r>
          </a:p>
        </p:txBody>
      </p:sp>
      <p:sp>
        <p:nvSpPr>
          <p:cNvPr id="18" name="Title 4"/>
          <p:cNvSpPr>
            <a:spLocks noGrp="1"/>
          </p:cNvSpPr>
          <p:nvPr>
            <p:ph type="title"/>
          </p:nvPr>
        </p:nvSpPr>
        <p:spPr>
          <a:xfrm>
            <a:off x="457200" y="228600"/>
            <a:ext cx="8458200" cy="1143000"/>
          </a:xfrm>
          <a:prstGeom prst="rect">
            <a:avLst/>
          </a:prstGeom>
        </p:spPr>
        <p:txBody>
          <a:bodyPr vert="horz" anchor="t"/>
          <a:lstStyle>
            <a:lvl1pPr algn="l">
              <a:defRPr sz="3000" b="1" i="0">
                <a:solidFill>
                  <a:srgbClr val="000000"/>
                </a:solidFill>
                <a:latin typeface="Arial Bold"/>
                <a:cs typeface="Arial Bold"/>
              </a:defRPr>
            </a:lvl1pPr>
          </a:lstStyle>
          <a:p>
            <a:r>
              <a:rPr lang="en-US" smtClean="0"/>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TextBox 4"/>
          <p:cNvSpPr txBox="1"/>
          <p:nvPr userDrawn="1"/>
        </p:nvSpPr>
        <p:spPr>
          <a:xfrm>
            <a:off x="-838200" y="225425"/>
            <a:ext cx="76200" cy="369888"/>
          </a:xfrm>
          <a:prstGeom prst="rect">
            <a:avLst/>
          </a:prstGeom>
          <a:noFill/>
        </p:spPr>
        <p:txBody>
          <a:bodyPr>
            <a:spAutoFit/>
          </a:bodyPr>
          <a:lstStyle/>
          <a:p>
            <a:pPr fontAlgn="auto">
              <a:spcBef>
                <a:spcPts val="0"/>
              </a:spcBef>
              <a:spcAft>
                <a:spcPts val="0"/>
              </a:spcAft>
              <a:defRPr/>
            </a:pPr>
            <a:endParaRPr lang="en-US" dirty="0">
              <a:latin typeface="+mn-lt"/>
              <a:cs typeface="+mn-cs"/>
            </a:endParaRPr>
          </a:p>
        </p:txBody>
      </p:sp>
      <p:pic>
        <p:nvPicPr>
          <p:cNvPr id="6" name="Picture 2" descr="h_Strata_TKO_Process.eps"/>
          <p:cNvPicPr>
            <a:picLocks noChangeAspect="1"/>
          </p:cNvPicPr>
          <p:nvPr userDrawn="1"/>
        </p:nvPicPr>
        <p:blipFill>
          <a:blip r:embed="rId2"/>
          <a:srcRect/>
          <a:stretch>
            <a:fillRect/>
          </a:stretch>
        </p:blipFill>
        <p:spPr bwMode="auto">
          <a:xfrm>
            <a:off x="7056438" y="6137275"/>
            <a:ext cx="1858962" cy="495300"/>
          </a:xfrm>
          <a:prstGeom prst="rect">
            <a:avLst/>
          </a:prstGeom>
          <a:noFill/>
          <a:ln w="9525">
            <a:noFill/>
            <a:miter lim="800000"/>
            <a:headEnd/>
            <a:tailEnd/>
          </a:ln>
        </p:spPr>
      </p:pic>
      <p:sp>
        <p:nvSpPr>
          <p:cNvPr id="14" name="Picture Placeholder 12"/>
          <p:cNvSpPr>
            <a:spLocks noGrp="1"/>
          </p:cNvSpPr>
          <p:nvPr>
            <p:ph type="pic" sz="quarter" idx="14"/>
          </p:nvPr>
        </p:nvSpPr>
        <p:spPr>
          <a:xfrm>
            <a:off x="4875213" y="1371600"/>
            <a:ext cx="3430587" cy="4597400"/>
          </a:xfrm>
          <a:prstGeom prst="rect">
            <a:avLst/>
          </a:prstGeom>
          <a:ln w="0" cap="flat" cmpd="sng" algn="ctr">
            <a:noFill/>
            <a:prstDash val="solid"/>
            <a:round/>
            <a:headEnd type="none" w="med" len="med"/>
            <a:tailEnd type="none" w="med" len="med"/>
          </a:ln>
        </p:spPr>
        <p:txBody>
          <a:bodyPr vert="horz"/>
          <a:lstStyle>
            <a:lvl1pPr>
              <a:defRPr>
                <a:solidFill>
                  <a:srgbClr val="000000"/>
                </a:solidFill>
              </a:defRPr>
            </a:lvl1pPr>
          </a:lstStyle>
          <a:p>
            <a:pPr lvl="0"/>
            <a:r>
              <a:rPr lang="en-US" noProof="0" smtClean="0"/>
              <a:t>Click icon to add picture</a:t>
            </a:r>
            <a:endParaRPr lang="en-US" noProof="0"/>
          </a:p>
        </p:txBody>
      </p:sp>
      <p:sp>
        <p:nvSpPr>
          <p:cNvPr id="16" name="Text Placeholder 15"/>
          <p:cNvSpPr>
            <a:spLocks noGrp="1"/>
          </p:cNvSpPr>
          <p:nvPr>
            <p:ph type="body" sz="quarter" idx="15"/>
          </p:nvPr>
        </p:nvSpPr>
        <p:spPr>
          <a:xfrm>
            <a:off x="836613" y="1346200"/>
            <a:ext cx="3505200" cy="4597400"/>
          </a:xfrm>
          <a:prstGeom prst="rect">
            <a:avLst/>
          </a:prstGeom>
        </p:spPr>
        <p:txBody>
          <a:bodyPr vert="horz" anchor="b"/>
          <a:lstStyle>
            <a:lvl1pPr marL="0" indent="0" algn="r">
              <a:buNone/>
              <a:defRPr sz="1700" b="0" i="0">
                <a:solidFill>
                  <a:srgbClr val="000000"/>
                </a:solidFill>
                <a:latin typeface="Arial Bold"/>
                <a:cs typeface="Arial Bold"/>
              </a:defRPr>
            </a:lvl1pPr>
            <a:lvl2pPr>
              <a:buNone/>
              <a:defRPr sz="1700" b="0" i="0">
                <a:solidFill>
                  <a:srgbClr val="FFFFFF"/>
                </a:solidFill>
                <a:latin typeface="Arial Bold"/>
                <a:cs typeface="Arial Bold"/>
              </a:defRPr>
            </a:lvl2pPr>
            <a:lvl3pPr>
              <a:buNone/>
              <a:defRPr sz="1700" b="0" i="0">
                <a:solidFill>
                  <a:srgbClr val="FFFFFF"/>
                </a:solidFill>
                <a:latin typeface="Arial Bold"/>
                <a:cs typeface="Arial Bold"/>
              </a:defRPr>
            </a:lvl3pPr>
            <a:lvl4pPr>
              <a:buNone/>
              <a:defRPr sz="1700" b="0" i="0">
                <a:solidFill>
                  <a:srgbClr val="FFFFFF"/>
                </a:solidFill>
                <a:latin typeface="Arial Bold"/>
                <a:cs typeface="Arial Bold"/>
              </a:defRPr>
            </a:lvl4pPr>
            <a:lvl5pPr>
              <a:buNone/>
              <a:defRPr sz="1700" b="0" i="0">
                <a:solidFill>
                  <a:srgbClr val="FFFFFF"/>
                </a:solidFill>
                <a:latin typeface="Arial Bold"/>
                <a:cs typeface="Arial Bold"/>
              </a:defRPr>
            </a:lvl5pPr>
          </a:lstStyle>
          <a:p>
            <a:pPr lvl="0"/>
            <a:r>
              <a:rPr lang="en-US" smtClean="0"/>
              <a:t>Click to edit Master text styles</a:t>
            </a:r>
          </a:p>
        </p:txBody>
      </p:sp>
      <p:sp>
        <p:nvSpPr>
          <p:cNvPr id="8" name="Title 4"/>
          <p:cNvSpPr>
            <a:spLocks noGrp="1"/>
          </p:cNvSpPr>
          <p:nvPr>
            <p:ph type="title"/>
          </p:nvPr>
        </p:nvSpPr>
        <p:spPr>
          <a:xfrm>
            <a:off x="457200" y="228600"/>
            <a:ext cx="8458200" cy="1143000"/>
          </a:xfrm>
          <a:prstGeom prst="rect">
            <a:avLst/>
          </a:prstGeom>
        </p:spPr>
        <p:txBody>
          <a:bodyPr vert="horz" anchor="t"/>
          <a:lstStyle>
            <a:lvl1pPr algn="l">
              <a:defRPr sz="3000" b="1" i="0">
                <a:solidFill>
                  <a:srgbClr val="000000"/>
                </a:solidFill>
                <a:latin typeface="Arial Bold"/>
                <a:cs typeface="Arial Bold"/>
              </a:defRPr>
            </a:lvl1pPr>
          </a:lstStyle>
          <a:p>
            <a:r>
              <a:rPr lang="en-US" smtClean="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extBox 4"/>
          <p:cNvSpPr txBox="1"/>
          <p:nvPr userDrawn="1"/>
        </p:nvSpPr>
        <p:spPr>
          <a:xfrm>
            <a:off x="-838200" y="225425"/>
            <a:ext cx="76200" cy="369888"/>
          </a:xfrm>
          <a:prstGeom prst="rect">
            <a:avLst/>
          </a:prstGeom>
          <a:noFill/>
        </p:spPr>
        <p:txBody>
          <a:bodyPr>
            <a:spAutoFit/>
          </a:bodyPr>
          <a:lstStyle/>
          <a:p>
            <a:pPr fontAlgn="auto">
              <a:spcBef>
                <a:spcPts val="0"/>
              </a:spcBef>
              <a:spcAft>
                <a:spcPts val="0"/>
              </a:spcAft>
              <a:defRPr/>
            </a:pPr>
            <a:endParaRPr lang="en-US" dirty="0">
              <a:latin typeface="+mn-lt"/>
              <a:cs typeface="+mn-cs"/>
            </a:endParaRPr>
          </a:p>
        </p:txBody>
      </p:sp>
      <p:pic>
        <p:nvPicPr>
          <p:cNvPr id="6" name="Picture 2" descr="h_Strata_TKO_Process.eps"/>
          <p:cNvPicPr>
            <a:picLocks noChangeAspect="1"/>
          </p:cNvPicPr>
          <p:nvPr userDrawn="1"/>
        </p:nvPicPr>
        <p:blipFill>
          <a:blip r:embed="rId2"/>
          <a:srcRect/>
          <a:stretch>
            <a:fillRect/>
          </a:stretch>
        </p:blipFill>
        <p:spPr bwMode="auto">
          <a:xfrm>
            <a:off x="7056438" y="6137275"/>
            <a:ext cx="1858962" cy="495300"/>
          </a:xfrm>
          <a:prstGeom prst="rect">
            <a:avLst/>
          </a:prstGeom>
          <a:noFill/>
          <a:ln w="9525">
            <a:noFill/>
            <a:miter lim="800000"/>
            <a:headEnd/>
            <a:tailEnd/>
          </a:ln>
        </p:spPr>
      </p:pic>
      <p:sp>
        <p:nvSpPr>
          <p:cNvPr id="14" name="Picture Placeholder 12"/>
          <p:cNvSpPr>
            <a:spLocks noGrp="1"/>
          </p:cNvSpPr>
          <p:nvPr>
            <p:ph type="pic" sz="quarter" idx="14"/>
          </p:nvPr>
        </p:nvSpPr>
        <p:spPr>
          <a:xfrm>
            <a:off x="1141414" y="1346200"/>
            <a:ext cx="6783388" cy="3454400"/>
          </a:xfrm>
          <a:prstGeom prst="rect">
            <a:avLst/>
          </a:prstGeom>
          <a:ln w="0" cap="flat" cmpd="sng" algn="ctr">
            <a:noFill/>
            <a:prstDash val="solid"/>
            <a:round/>
            <a:headEnd type="none" w="med" len="med"/>
            <a:tailEnd type="none" w="med" len="med"/>
          </a:ln>
        </p:spPr>
        <p:txBody>
          <a:bodyPr vert="horz"/>
          <a:lstStyle>
            <a:lvl1pPr>
              <a:defRPr>
                <a:solidFill>
                  <a:srgbClr val="000000"/>
                </a:solidFill>
              </a:defRPr>
            </a:lvl1pPr>
          </a:lstStyle>
          <a:p>
            <a:pPr lvl="0"/>
            <a:r>
              <a:rPr lang="en-US" noProof="0" smtClean="0"/>
              <a:t>Click icon to add picture</a:t>
            </a:r>
            <a:endParaRPr lang="en-US" noProof="0" dirty="0"/>
          </a:p>
        </p:txBody>
      </p:sp>
      <p:sp>
        <p:nvSpPr>
          <p:cNvPr id="16" name="Text Placeholder 15"/>
          <p:cNvSpPr>
            <a:spLocks noGrp="1"/>
          </p:cNvSpPr>
          <p:nvPr>
            <p:ph type="body" sz="quarter" idx="15"/>
          </p:nvPr>
        </p:nvSpPr>
        <p:spPr>
          <a:xfrm>
            <a:off x="1066800" y="5029200"/>
            <a:ext cx="6858002" cy="1106542"/>
          </a:xfrm>
          <a:prstGeom prst="rect">
            <a:avLst/>
          </a:prstGeom>
        </p:spPr>
        <p:txBody>
          <a:bodyPr vert="horz" anchor="t"/>
          <a:lstStyle>
            <a:lvl1pPr marL="0" indent="0">
              <a:buNone/>
              <a:defRPr sz="1700" b="0" i="0">
                <a:solidFill>
                  <a:srgbClr val="000000"/>
                </a:solidFill>
                <a:latin typeface="Arial Bold"/>
                <a:cs typeface="Arial Bold"/>
              </a:defRPr>
            </a:lvl1pPr>
            <a:lvl2pPr>
              <a:buNone/>
              <a:defRPr sz="1700" b="0" i="0">
                <a:solidFill>
                  <a:srgbClr val="FFFFFF"/>
                </a:solidFill>
                <a:latin typeface="Arial Bold"/>
                <a:cs typeface="Arial Bold"/>
              </a:defRPr>
            </a:lvl2pPr>
            <a:lvl3pPr>
              <a:buNone/>
              <a:defRPr sz="1700" b="0" i="0">
                <a:solidFill>
                  <a:srgbClr val="FFFFFF"/>
                </a:solidFill>
                <a:latin typeface="Arial Bold"/>
                <a:cs typeface="Arial Bold"/>
              </a:defRPr>
            </a:lvl3pPr>
            <a:lvl4pPr>
              <a:buNone/>
              <a:defRPr sz="1700" b="0" i="0">
                <a:solidFill>
                  <a:srgbClr val="FFFFFF"/>
                </a:solidFill>
                <a:latin typeface="Arial Bold"/>
                <a:cs typeface="Arial Bold"/>
              </a:defRPr>
            </a:lvl4pPr>
            <a:lvl5pPr>
              <a:buNone/>
              <a:defRPr sz="1700" b="0" i="0">
                <a:solidFill>
                  <a:srgbClr val="FFFFFF"/>
                </a:solidFill>
                <a:latin typeface="Arial Bold"/>
                <a:cs typeface="Arial Bold"/>
              </a:defRPr>
            </a:lvl5pPr>
          </a:lstStyle>
          <a:p>
            <a:pPr lvl="0"/>
            <a:r>
              <a:rPr lang="en-US" smtClean="0"/>
              <a:t>Click to edit Master text styles</a:t>
            </a:r>
          </a:p>
        </p:txBody>
      </p:sp>
      <p:sp>
        <p:nvSpPr>
          <p:cNvPr id="8" name="Title 4"/>
          <p:cNvSpPr>
            <a:spLocks noGrp="1"/>
          </p:cNvSpPr>
          <p:nvPr>
            <p:ph type="title"/>
          </p:nvPr>
        </p:nvSpPr>
        <p:spPr>
          <a:xfrm>
            <a:off x="327526" y="228600"/>
            <a:ext cx="8587874" cy="1143000"/>
          </a:xfrm>
          <a:prstGeom prst="rect">
            <a:avLst/>
          </a:prstGeom>
        </p:spPr>
        <p:txBody>
          <a:bodyPr vert="horz" anchor="t"/>
          <a:lstStyle>
            <a:lvl1pPr algn="l">
              <a:defRPr sz="3000" b="1" i="0">
                <a:solidFill>
                  <a:srgbClr val="000000"/>
                </a:solidFill>
                <a:latin typeface="Arial Bold"/>
                <a:cs typeface="Arial Bold"/>
              </a:defRPr>
            </a:lvl1pPr>
          </a:lstStyle>
          <a:p>
            <a:r>
              <a:rPr lang="en-US" smtClean="0"/>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timing>
    <p:tnLst>
      <p:par>
        <p:cTn id="1" dur="indefinite" restart="never" nodeType="tmRoot"/>
      </p:par>
    </p:tnLst>
  </p:timing>
  <p:txStyles>
    <p:titleStyle>
      <a:lvl1pPr algn="ctr" defTabSz="457200" rtl="0" eaLnBrk="1" fontAlgn="base" hangingPunct="1">
        <a:spcBef>
          <a:spcPct val="0"/>
        </a:spcBef>
        <a:spcAft>
          <a:spcPct val="0"/>
        </a:spcAft>
        <a:defRPr sz="4400" kern="1200">
          <a:solidFill>
            <a:schemeClr val="tx1"/>
          </a:solidFill>
          <a:latin typeface="+mj-lt"/>
          <a:ea typeface="+mj-ea"/>
          <a:cs typeface="+mj-cs"/>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file:///\\my\share\work\giselle\RCM_Radio"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362200" y="1295400"/>
            <a:ext cx="6400800" cy="2130425"/>
          </a:xfrm>
        </p:spPr>
        <p:txBody>
          <a:bodyPr/>
          <a:lstStyle/>
          <a:p>
            <a:pPr fontAlgn="auto">
              <a:spcAft>
                <a:spcPts val="0"/>
              </a:spcAft>
              <a:defRPr/>
            </a:pPr>
            <a:r>
              <a:rPr lang="en-US" dirty="0" smtClean="0"/>
              <a:t>Radio Rate Card Manager</a:t>
            </a:r>
            <a:endParaRPr lang="en-US" dirty="0"/>
          </a:p>
        </p:txBody>
      </p:sp>
      <p:sp>
        <p:nvSpPr>
          <p:cNvPr id="8195" name="Text Placeholder 8"/>
          <p:cNvSpPr>
            <a:spLocks noGrp="1"/>
          </p:cNvSpPr>
          <p:nvPr>
            <p:ph type="body"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latin typeface="Arial Bold" pitchFamily="34" charset="0"/>
                <a:cs typeface="Arial Bold" pitchFamily="34" charset="0"/>
              </a:rPr>
              <a:t>Overview of the Rate Card System</a:t>
            </a:r>
          </a:p>
          <a:p>
            <a:r>
              <a:rPr lang="en-US" dirty="0" smtClean="0">
                <a:latin typeface="Arial Bold" pitchFamily="34" charset="0"/>
                <a:cs typeface="Arial Bold" pitchFamily="34" charset="0"/>
              </a:rPr>
              <a:t>Katz Radio Group</a:t>
            </a:r>
          </a:p>
          <a:p>
            <a:endParaRPr lang="en-US" dirty="0" smtClean="0">
              <a:latin typeface="Arial Bold" pitchFamily="34" charset="0"/>
              <a:cs typeface="Arial Bold" pitchFamily="34" charset="0"/>
            </a:endParaRPr>
          </a:p>
        </p:txBody>
      </p:sp>
      <p:sp>
        <p:nvSpPr>
          <p:cNvPr id="5" name="Text Placeholder 4"/>
          <p:cNvSpPr>
            <a:spLocks noGrp="1"/>
          </p:cNvSpPr>
          <p:nvPr>
            <p:ph type="body" sz="quarter" idx="12"/>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5"/>
          </p:nvPr>
        </p:nvSpPr>
        <p:spPr>
          <a:xfrm>
            <a:off x="685800" y="1219200"/>
            <a:ext cx="3735387" cy="4902200"/>
          </a:xfrm>
        </p:spPr>
        <p:txBody>
          <a:bodyPr anchor="t" anchorCtr="0"/>
          <a:lstStyle/>
          <a:p>
            <a:pPr algn="l"/>
            <a:r>
              <a:rPr lang="en-US" dirty="0" smtClean="0"/>
              <a:t>Rate Card Manager Application</a:t>
            </a:r>
          </a:p>
          <a:p>
            <a:pPr marL="274320" indent="-274320" algn="l">
              <a:buFont typeface="Wingdings" pitchFamily="2" charset="2"/>
              <a:buChar char="q"/>
            </a:pPr>
            <a:r>
              <a:rPr lang="en-US" sz="1200" dirty="0" smtClean="0">
                <a:latin typeface="+mj-lt"/>
                <a:cs typeface="Arial" pitchFamily="34" charset="0"/>
              </a:rPr>
              <a:t>Used by few admin users</a:t>
            </a:r>
          </a:p>
          <a:p>
            <a:pPr marL="274320" indent="-274320" algn="l">
              <a:buFont typeface="Wingdings" pitchFamily="2" charset="2"/>
              <a:buChar char="q"/>
            </a:pPr>
            <a:r>
              <a:rPr lang="en-US" sz="1200" dirty="0" smtClean="0">
                <a:latin typeface="+mj-lt"/>
                <a:cs typeface="Arial" pitchFamily="34" charset="0"/>
              </a:rPr>
              <a:t>Manages Rate Card SQL db</a:t>
            </a:r>
          </a:p>
          <a:p>
            <a:pPr marL="274320" indent="-274320" algn="l">
              <a:buFont typeface="Wingdings" pitchFamily="2" charset="2"/>
              <a:buChar char="q"/>
            </a:pPr>
            <a:r>
              <a:rPr lang="en-US" sz="1200" dirty="0" smtClean="0">
                <a:latin typeface="+mj-lt"/>
                <a:cs typeface="Arial" pitchFamily="34" charset="0"/>
              </a:rPr>
              <a:t>Used to set Default Rate Card Settings</a:t>
            </a:r>
          </a:p>
          <a:p>
            <a:pPr marL="274320" indent="-274320" algn="l">
              <a:buFont typeface="Wingdings" pitchFamily="2" charset="2"/>
              <a:buChar char="q"/>
            </a:pPr>
            <a:r>
              <a:rPr lang="en-US" sz="1200" dirty="0" smtClean="0">
                <a:latin typeface="+mj-lt"/>
                <a:cs typeface="Arial" pitchFamily="34" charset="0"/>
              </a:rPr>
              <a:t>Used to set and/or update Registry Settings</a:t>
            </a:r>
          </a:p>
          <a:p>
            <a:pPr marL="548640" lvl="1" indent="-274320">
              <a:buFont typeface="Wingdings" pitchFamily="2" charset="2"/>
              <a:buChar char="§"/>
            </a:pPr>
            <a:r>
              <a:rPr lang="en-US" sz="1200" dirty="0" smtClean="0">
                <a:solidFill>
                  <a:schemeClr val="tx1"/>
                </a:solidFill>
                <a:latin typeface="+mj-lt"/>
                <a:cs typeface="Arial" pitchFamily="34" charset="0"/>
              </a:rPr>
              <a:t>Registry settings are stored in [HKLM\Software\VB and VBA Program Settings\</a:t>
            </a:r>
            <a:r>
              <a:rPr lang="en-US" sz="1200" dirty="0" err="1" smtClean="0">
                <a:solidFill>
                  <a:schemeClr val="tx1"/>
                </a:solidFill>
                <a:latin typeface="+mj-lt"/>
                <a:cs typeface="Arial" pitchFamily="34" charset="0"/>
              </a:rPr>
              <a:t>RCMRadio</a:t>
            </a:r>
            <a:r>
              <a:rPr lang="en-US" sz="1200" dirty="0" smtClean="0">
                <a:solidFill>
                  <a:schemeClr val="tx1"/>
                </a:solidFill>
                <a:latin typeface="+mj-lt"/>
                <a:cs typeface="Arial" pitchFamily="34" charset="0"/>
              </a:rPr>
              <a:t>\Settings] </a:t>
            </a:r>
          </a:p>
          <a:p>
            <a:pPr marL="274320" indent="-274320" algn="l">
              <a:buFont typeface="Wingdings" pitchFamily="2" charset="2"/>
              <a:buChar char="q"/>
            </a:pPr>
            <a:r>
              <a:rPr lang="en-US" sz="1200" dirty="0" smtClean="0">
                <a:latin typeface="+mj-lt"/>
                <a:cs typeface="Arial" pitchFamily="34" charset="0"/>
              </a:rPr>
              <a:t>Needs </a:t>
            </a:r>
            <a:r>
              <a:rPr lang="en-US" sz="1200" dirty="0" err="1" smtClean="0">
                <a:latin typeface="+mj-lt"/>
                <a:cs typeface="Arial" pitchFamily="34" charset="0"/>
              </a:rPr>
              <a:t>Mstreet</a:t>
            </a:r>
            <a:r>
              <a:rPr lang="en-US" sz="1200" dirty="0" smtClean="0">
                <a:latin typeface="+mj-lt"/>
                <a:cs typeface="Arial" pitchFamily="34" charset="0"/>
              </a:rPr>
              <a:t> Database to function</a:t>
            </a:r>
          </a:p>
          <a:p>
            <a:pPr marL="548640" lvl="1" indent="-274320">
              <a:buFont typeface="Wingdings" pitchFamily="2" charset="2"/>
              <a:buChar char="§"/>
            </a:pPr>
            <a:r>
              <a:rPr lang="en-US" sz="1200" dirty="0" smtClean="0">
                <a:solidFill>
                  <a:schemeClr val="tx1"/>
                </a:solidFill>
                <a:latin typeface="+mj-lt"/>
                <a:cs typeface="Arial" pitchFamily="34" charset="0"/>
              </a:rPr>
              <a:t>Gets location of </a:t>
            </a:r>
            <a:r>
              <a:rPr lang="en-US" sz="1200" dirty="0" err="1" smtClean="0">
                <a:solidFill>
                  <a:schemeClr val="tx1"/>
                </a:solidFill>
                <a:latin typeface="+mj-lt"/>
                <a:cs typeface="Arial" pitchFamily="34" charset="0"/>
              </a:rPr>
              <a:t>Mstreet</a:t>
            </a:r>
            <a:r>
              <a:rPr lang="en-US" sz="1200" dirty="0" smtClean="0">
                <a:solidFill>
                  <a:schemeClr val="tx1"/>
                </a:solidFill>
                <a:latin typeface="+mj-lt"/>
                <a:cs typeface="Arial" pitchFamily="34" charset="0"/>
              </a:rPr>
              <a:t> db from the MstreetSrvSettings.XML file which is located in the OLE subfolder in the View installation folder.</a:t>
            </a:r>
          </a:p>
          <a:p>
            <a:pPr marL="548640" lvl="1" indent="-274320">
              <a:buFont typeface="Wingdings" pitchFamily="2" charset="2"/>
              <a:buChar char="§"/>
            </a:pPr>
            <a:r>
              <a:rPr lang="en-US" sz="1200" dirty="0" smtClean="0">
                <a:solidFill>
                  <a:schemeClr val="tx1"/>
                </a:solidFill>
                <a:latin typeface="+mj-lt"/>
                <a:cs typeface="Arial" pitchFamily="34" charset="0"/>
              </a:rPr>
              <a:t>View folder location is stored in the “View Path” key in the RCM registry setting.</a:t>
            </a:r>
          </a:p>
          <a:p>
            <a:pPr marL="274320" indent="-274320" algn="l">
              <a:buFont typeface="Wingdings" pitchFamily="2" charset="2"/>
              <a:buChar char="q"/>
            </a:pPr>
            <a:r>
              <a:rPr lang="en-US" sz="1200" dirty="0" smtClean="0">
                <a:latin typeface="+mj-lt"/>
                <a:cs typeface="Arial" pitchFamily="34" charset="0"/>
              </a:rPr>
              <a:t>Can be run from command line with </a:t>
            </a:r>
            <a:r>
              <a:rPr lang="en-US" sz="1200" dirty="0" err="1" smtClean="0">
                <a:latin typeface="+mj-lt"/>
                <a:cs typeface="Arial" pitchFamily="34" charset="0"/>
              </a:rPr>
              <a:t>autoimport</a:t>
            </a:r>
            <a:r>
              <a:rPr lang="en-US" sz="1200" dirty="0" smtClean="0">
                <a:latin typeface="+mj-lt"/>
                <a:cs typeface="Arial" pitchFamily="34" charset="0"/>
              </a:rPr>
              <a:t>  switch to automatically import Rate Card spreadsheets</a:t>
            </a:r>
            <a:endParaRPr lang="en-US" sz="1200" dirty="0" smtClean="0">
              <a:solidFill>
                <a:schemeClr val="tx1"/>
              </a:solidFill>
              <a:latin typeface="+mj-lt"/>
              <a:cs typeface="Arial" pitchFamily="34" charset="0"/>
            </a:endParaRPr>
          </a:p>
          <a:p>
            <a:pPr marL="548640" lvl="1" indent="-274320">
              <a:buFont typeface="Wingdings" pitchFamily="2" charset="2"/>
              <a:buChar char="§"/>
            </a:pPr>
            <a:r>
              <a:rPr lang="en-US" sz="1200" dirty="0" smtClean="0">
                <a:solidFill>
                  <a:schemeClr val="tx1"/>
                </a:solidFill>
                <a:latin typeface="+mj-lt"/>
                <a:cs typeface="Arial" pitchFamily="34" charset="0"/>
              </a:rPr>
              <a:t>Location of spreadsheets is set in AutoImportDir.ini file which is located in RCM installation folder.</a:t>
            </a:r>
          </a:p>
          <a:p>
            <a:pPr marL="548640" lvl="1" indent="-274320">
              <a:buFont typeface="Wingdings" pitchFamily="2" charset="2"/>
              <a:buChar char="§"/>
            </a:pPr>
            <a:r>
              <a:rPr lang="en-US" sz="1200" dirty="0" smtClean="0">
                <a:solidFill>
                  <a:schemeClr val="tx1"/>
                </a:solidFill>
                <a:latin typeface="+mj-lt"/>
                <a:cs typeface="Arial" pitchFamily="34" charset="0"/>
              </a:rPr>
              <a:t>After Spreadsheets are imported they are moved to a folder specified in the AutoImportDir.ini file.</a:t>
            </a:r>
          </a:p>
          <a:p>
            <a:pPr marL="548640" lvl="1" indent="-274320">
              <a:buFont typeface="Wingdings" pitchFamily="2" charset="2"/>
              <a:buChar char="§"/>
            </a:pPr>
            <a:r>
              <a:rPr lang="en-US" sz="1200" dirty="0" smtClean="0">
                <a:solidFill>
                  <a:schemeClr val="tx1"/>
                </a:solidFill>
                <a:latin typeface="+mj-lt"/>
                <a:cs typeface="Arial" pitchFamily="34" charset="0"/>
              </a:rPr>
              <a:t>Can be run by a Scheduled Task to auto import spreadsheets nightly</a:t>
            </a:r>
          </a:p>
        </p:txBody>
      </p:sp>
      <p:sp>
        <p:nvSpPr>
          <p:cNvPr id="7" name="Title 6"/>
          <p:cNvSpPr>
            <a:spLocks noGrp="1"/>
          </p:cNvSpPr>
          <p:nvPr>
            <p:ph type="title"/>
          </p:nvPr>
        </p:nvSpPr>
        <p:spPr/>
        <p:txBody>
          <a:bodyPr/>
          <a:lstStyle/>
          <a:p>
            <a:r>
              <a:rPr lang="en-US" dirty="0" smtClean="0"/>
              <a:t>Rate Card Components</a:t>
            </a:r>
            <a:endParaRPr lang="en-US" dirty="0"/>
          </a:p>
        </p:txBody>
      </p:sp>
      <p:sp>
        <p:nvSpPr>
          <p:cNvPr id="10" name="Text Placeholder 8"/>
          <p:cNvSpPr txBox="1">
            <a:spLocks/>
          </p:cNvSpPr>
          <p:nvPr/>
        </p:nvSpPr>
        <p:spPr>
          <a:xfrm>
            <a:off x="4953000" y="1219200"/>
            <a:ext cx="3733800" cy="4597400"/>
          </a:xfrm>
          <a:prstGeom prst="rect">
            <a:avLst/>
          </a:prstGeom>
        </p:spPr>
        <p:txBody>
          <a:bodyPr vert="horz" anchor="t" anchorCtr="0"/>
          <a:lstStyle/>
          <a:p>
            <a:pPr marL="0" marR="0" lvl="0" indent="0" algn="l" defTabSz="457200" rtl="0" eaLnBrk="1" fontAlgn="base" latinLnBrk="0" hangingPunct="1">
              <a:lnSpc>
                <a:spcPct val="100000"/>
              </a:lnSpc>
              <a:spcBef>
                <a:spcPct val="20000"/>
              </a:spcBef>
              <a:spcAft>
                <a:spcPct val="0"/>
              </a:spcAft>
              <a:buClrTx/>
              <a:buSzTx/>
              <a:buFont typeface="Arial" charset="0"/>
              <a:buNone/>
              <a:tabLst/>
              <a:defRPr/>
            </a:pPr>
            <a:r>
              <a:rPr kumimoji="0" lang="en-US" sz="1700" b="0" i="0" u="none" strike="noStrike" kern="1200" cap="none" spc="0" normalizeH="0" baseline="0" noProof="0" dirty="0" smtClean="0">
                <a:ln>
                  <a:noFill/>
                </a:ln>
                <a:solidFill>
                  <a:srgbClr val="000000"/>
                </a:solidFill>
                <a:effectLst/>
                <a:uLnTx/>
                <a:uFillTx/>
                <a:latin typeface="Arial Bold"/>
                <a:ea typeface="+mn-ea"/>
                <a:cs typeface="Arial Bold"/>
              </a:rPr>
              <a:t>Rate Card Manager OLE Server</a:t>
            </a:r>
          </a:p>
          <a:p>
            <a:pPr marL="274320" marR="0" lvl="0" indent="-274320" latinLnBrk="0">
              <a:lnSpc>
                <a:spcPct val="100000"/>
              </a:lnSpc>
              <a:spcBef>
                <a:spcPct val="20000"/>
              </a:spcBef>
              <a:buClrTx/>
              <a:buSzTx/>
              <a:buFont typeface="Wingdings" pitchFamily="2" charset="2"/>
              <a:buChar char="q"/>
              <a:tabLst/>
              <a:defRPr/>
            </a:pPr>
            <a:r>
              <a:rPr lang="en-US" sz="1200" dirty="0" smtClean="0">
                <a:solidFill>
                  <a:srgbClr val="000000"/>
                </a:solidFill>
                <a:latin typeface="+mj-lt"/>
                <a:cs typeface="Arial" pitchFamily="34" charset="0"/>
              </a:rPr>
              <a:t>Potentially will be used by all View32 users</a:t>
            </a:r>
          </a:p>
          <a:p>
            <a:pPr marL="274320" marR="0" lvl="0" indent="-274320" latinLnBrk="0">
              <a:lnSpc>
                <a:spcPct val="100000"/>
              </a:lnSpc>
              <a:spcBef>
                <a:spcPct val="20000"/>
              </a:spcBef>
              <a:buClrTx/>
              <a:buSzTx/>
              <a:buFont typeface="Wingdings" pitchFamily="2" charset="2"/>
              <a:buChar char="q"/>
              <a:tabLst/>
              <a:defRPr/>
            </a:pPr>
            <a:r>
              <a:rPr lang="en-US" sz="1200" dirty="0" smtClean="0">
                <a:solidFill>
                  <a:srgbClr val="000000"/>
                </a:solidFill>
                <a:latin typeface="+mj-lt"/>
                <a:cs typeface="Arial" pitchFamily="34" charset="0"/>
              </a:rPr>
              <a:t>Installed as part of View32 installation</a:t>
            </a:r>
          </a:p>
          <a:p>
            <a:pPr marL="274320" marR="0" lvl="0" indent="-274320" latinLnBrk="0">
              <a:lnSpc>
                <a:spcPct val="100000"/>
              </a:lnSpc>
              <a:spcBef>
                <a:spcPct val="20000"/>
              </a:spcBef>
              <a:buClrTx/>
              <a:buSzTx/>
              <a:buFont typeface="Wingdings" pitchFamily="2" charset="2"/>
              <a:buChar char="q"/>
              <a:tabLst/>
              <a:defRPr/>
            </a:pPr>
            <a:r>
              <a:rPr lang="en-US" sz="1200" dirty="0" smtClean="0">
                <a:solidFill>
                  <a:srgbClr val="000000"/>
                </a:solidFill>
                <a:latin typeface="+mj-lt"/>
                <a:cs typeface="Arial" pitchFamily="34" charset="0"/>
              </a:rPr>
              <a:t>Uses Registry keys set by Rate Card Manager application to locate Rate Card </a:t>
            </a:r>
            <a:r>
              <a:rPr lang="en-US" sz="1200" dirty="0" err="1" smtClean="0">
                <a:solidFill>
                  <a:srgbClr val="000000"/>
                </a:solidFill>
                <a:latin typeface="+mj-lt"/>
                <a:cs typeface="Arial" pitchFamily="34" charset="0"/>
              </a:rPr>
              <a:t>Sql</a:t>
            </a:r>
            <a:r>
              <a:rPr lang="en-US" sz="1200" dirty="0" smtClean="0">
                <a:solidFill>
                  <a:srgbClr val="000000"/>
                </a:solidFill>
                <a:latin typeface="+mj-lt"/>
                <a:cs typeface="Arial" pitchFamily="34" charset="0"/>
              </a:rPr>
              <a:t> db</a:t>
            </a:r>
          </a:p>
          <a:p>
            <a:pPr marL="274320" marR="0" lvl="0" indent="-274320" latinLnBrk="0">
              <a:lnSpc>
                <a:spcPct val="100000"/>
              </a:lnSpc>
              <a:spcBef>
                <a:spcPct val="20000"/>
              </a:spcBef>
              <a:buClrTx/>
              <a:buSzTx/>
              <a:buFont typeface="Wingdings" pitchFamily="2" charset="2"/>
              <a:buChar char="q"/>
              <a:tabLst/>
              <a:defRPr/>
            </a:pPr>
            <a:r>
              <a:rPr lang="en-US" sz="1200" dirty="0" smtClean="0">
                <a:solidFill>
                  <a:srgbClr val="000000"/>
                </a:solidFill>
                <a:latin typeface="+mj-lt"/>
                <a:cs typeface="Arial" pitchFamily="34" charset="0"/>
              </a:rPr>
              <a:t>Is called by View32, passed a Schedule, and returns schedule with rates applied.</a:t>
            </a:r>
          </a:p>
          <a:p>
            <a:pPr marL="548640" lvl="1" indent="-274320">
              <a:spcBef>
                <a:spcPct val="20000"/>
              </a:spcBef>
              <a:buFont typeface="Wingdings" pitchFamily="2" charset="2"/>
              <a:buChar char="§"/>
            </a:pPr>
            <a:r>
              <a:rPr lang="en-US" sz="1200" dirty="0" smtClean="0">
                <a:latin typeface="+mj-lt"/>
                <a:cs typeface="Arial" pitchFamily="34" charset="0"/>
              </a:rPr>
              <a:t>Will only return rates for stations that have the same Rep ID as in the Company field in Client Info in View32.</a:t>
            </a:r>
          </a:p>
          <a:p>
            <a:pPr marL="548640" lvl="1" indent="-274320">
              <a:spcBef>
                <a:spcPct val="20000"/>
              </a:spcBef>
              <a:buFont typeface="Wingdings" pitchFamily="2" charset="2"/>
              <a:buChar char="§"/>
            </a:pPr>
            <a:r>
              <a:rPr lang="en-US" sz="1200" dirty="0" smtClean="0">
                <a:latin typeface="+mj-lt"/>
                <a:cs typeface="Arial" pitchFamily="34" charset="0"/>
              </a:rPr>
              <a:t>Default rates will be returned for stations that don’t match Rep ID.</a:t>
            </a:r>
          </a:p>
          <a:p>
            <a:pPr marL="0" marR="0" lvl="0" indent="0" algn="l" defTabSz="457200" rtl="0" eaLnBrk="1" fontAlgn="base" latinLnBrk="0" hangingPunct="1">
              <a:lnSpc>
                <a:spcPct val="100000"/>
              </a:lnSpc>
              <a:spcBef>
                <a:spcPct val="20000"/>
              </a:spcBef>
              <a:spcAft>
                <a:spcPct val="0"/>
              </a:spcAft>
              <a:buClrTx/>
              <a:buSzTx/>
              <a:buFont typeface="Wingdings" pitchFamily="2" charset="2"/>
              <a:buChar char="q"/>
              <a:tabLst/>
              <a:defRPr/>
            </a:pPr>
            <a:endParaRPr kumimoji="0" lang="en-US" sz="1700" b="0" i="0" u="none" strike="noStrike" kern="1200" cap="none" spc="0" normalizeH="0" baseline="0" noProof="0" dirty="0">
              <a:ln>
                <a:noFill/>
              </a:ln>
              <a:solidFill>
                <a:srgbClr val="000000"/>
              </a:solidFill>
              <a:effectLst/>
              <a:uLnTx/>
              <a:uFillTx/>
              <a:latin typeface="Arial Bold"/>
              <a:ea typeface="+mn-ea"/>
              <a:cs typeface="Arial Bo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Mstreet</a:t>
            </a:r>
            <a:r>
              <a:rPr lang="en-US" dirty="0" smtClean="0"/>
              <a:t> Database</a:t>
            </a:r>
            <a:endParaRPr lang="en-US" dirty="0"/>
          </a:p>
        </p:txBody>
      </p:sp>
      <p:sp>
        <p:nvSpPr>
          <p:cNvPr id="5" name="Text Placeholder 8"/>
          <p:cNvSpPr>
            <a:spLocks noGrp="1"/>
          </p:cNvSpPr>
          <p:nvPr>
            <p:ph type="body" sz="quarter" idx="15"/>
          </p:nvPr>
        </p:nvSpPr>
        <p:spPr>
          <a:xfrm>
            <a:off x="685800" y="1219200"/>
            <a:ext cx="7162800" cy="5181600"/>
          </a:xfrm>
        </p:spPr>
        <p:txBody>
          <a:bodyPr anchor="t" anchorCtr="0"/>
          <a:lstStyle/>
          <a:p>
            <a:pPr marL="274320" indent="-274320" algn="l">
              <a:buFont typeface="Wingdings" pitchFamily="2" charset="2"/>
              <a:buChar char="q"/>
            </a:pPr>
            <a:r>
              <a:rPr lang="en-US" sz="2000" dirty="0" smtClean="0">
                <a:latin typeface="+mj-lt"/>
                <a:cs typeface="Arial" pitchFamily="34" charset="0"/>
              </a:rPr>
              <a:t>Rate Card Manager and the Rate Card OLE server need a new version of the </a:t>
            </a:r>
            <a:r>
              <a:rPr lang="en-US" sz="2000" dirty="0" err="1" smtClean="0">
                <a:latin typeface="+mj-lt"/>
                <a:cs typeface="Arial" pitchFamily="34" charset="0"/>
              </a:rPr>
              <a:t>Mstreet</a:t>
            </a:r>
            <a:r>
              <a:rPr lang="en-US" sz="2000" dirty="0" smtClean="0">
                <a:latin typeface="+mj-lt"/>
                <a:cs typeface="Arial" pitchFamily="34" charset="0"/>
              </a:rPr>
              <a:t> database that has two additional fields.  </a:t>
            </a:r>
          </a:p>
          <a:p>
            <a:pPr marL="274320" indent="-274320" algn="l">
              <a:buFont typeface="Wingdings" pitchFamily="2" charset="2"/>
              <a:buChar char="q"/>
            </a:pPr>
            <a:endParaRPr lang="en-US" sz="2000" dirty="0" smtClean="0">
              <a:latin typeface="+mj-lt"/>
              <a:cs typeface="Arial" pitchFamily="34" charset="0"/>
            </a:endParaRPr>
          </a:p>
          <a:p>
            <a:pPr marL="274320" indent="-274320" algn="l">
              <a:buFont typeface="Wingdings" pitchFamily="2" charset="2"/>
              <a:buChar char="q"/>
            </a:pPr>
            <a:r>
              <a:rPr lang="en-US" sz="2000" dirty="0" smtClean="0">
                <a:latin typeface="+mj-lt"/>
                <a:cs typeface="Arial" pitchFamily="34" charset="0"/>
              </a:rPr>
              <a:t>The new fields are </a:t>
            </a:r>
            <a:r>
              <a:rPr lang="en-US" sz="2000" dirty="0" err="1" smtClean="0">
                <a:latin typeface="+mj-lt"/>
                <a:cs typeface="Arial" pitchFamily="34" charset="0"/>
              </a:rPr>
              <a:t>RepID</a:t>
            </a:r>
            <a:r>
              <a:rPr lang="en-US" sz="2000" dirty="0" smtClean="0">
                <a:latin typeface="+mj-lt"/>
                <a:cs typeface="Arial" pitchFamily="34" charset="0"/>
              </a:rPr>
              <a:t> and Band.</a:t>
            </a:r>
          </a:p>
          <a:p>
            <a:pPr marL="274320" indent="-274320" algn="l">
              <a:buFont typeface="Wingdings" pitchFamily="2" charset="2"/>
              <a:buChar char="q"/>
            </a:pPr>
            <a:endParaRPr lang="en-US" sz="2000" dirty="0" smtClean="0">
              <a:latin typeface="+mj-lt"/>
              <a:cs typeface="Arial" pitchFamily="34" charset="0"/>
            </a:endParaRPr>
          </a:p>
          <a:p>
            <a:pPr marL="274320" indent="-274320" algn="l">
              <a:buFont typeface="Wingdings" pitchFamily="2" charset="2"/>
              <a:buChar char="q"/>
            </a:pPr>
            <a:r>
              <a:rPr lang="en-US" sz="2000" dirty="0" smtClean="0">
                <a:latin typeface="+mj-lt"/>
                <a:cs typeface="Arial" pitchFamily="34" charset="0"/>
              </a:rPr>
              <a:t>Without these fields Rate Card Manager and the Rate Card OLE Server will fail</a:t>
            </a:r>
          </a:p>
          <a:p>
            <a:pPr marL="274320" indent="-274320" algn="l">
              <a:buFont typeface="Wingdings" pitchFamily="2" charset="2"/>
              <a:buChar char="q"/>
            </a:pPr>
            <a:endParaRPr lang="en-US" sz="2000" dirty="0" smtClean="0">
              <a:latin typeface="+mj-lt"/>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Rate Card Workflow</a:t>
            </a:r>
            <a:endParaRPr lang="en-US" dirty="0"/>
          </a:p>
        </p:txBody>
      </p:sp>
      <p:sp>
        <p:nvSpPr>
          <p:cNvPr id="7" name="Flowchart: Magnetic Disk 6"/>
          <p:cNvSpPr/>
          <p:nvPr/>
        </p:nvSpPr>
        <p:spPr>
          <a:xfrm>
            <a:off x="3962400" y="3409950"/>
            <a:ext cx="838200" cy="1257300"/>
          </a:xfrm>
          <a:prstGeom prst="flowChartMagneticDisk">
            <a:avLst/>
          </a:prstGeom>
          <a:ln>
            <a:solidFill>
              <a:schemeClr val="accent6">
                <a:lumMod val="50000"/>
              </a:schemeClr>
            </a:solidFill>
          </a:ln>
        </p:spPr>
        <p:style>
          <a:lnRef idx="0">
            <a:schemeClr val="accent6"/>
          </a:lnRef>
          <a:fillRef idx="3">
            <a:schemeClr val="accent6"/>
          </a:fillRef>
          <a:effectRef idx="3">
            <a:schemeClr val="accent6"/>
          </a:effectRef>
          <a:fontRef idx="minor">
            <a:schemeClr val="lt1"/>
          </a:fontRef>
        </p:style>
        <p:txBody>
          <a:bodyPr lIns="0" tIns="0" rIns="0" bIns="0" rtlCol="0" anchor="b" anchorCtr="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1200" b="1" cap="all" dirty="0" smtClean="0">
                <a:ln w="0">
                  <a:solidFill>
                    <a:schemeClr val="accent6">
                      <a:lumMod val="50000"/>
                    </a:schemeClr>
                  </a:solidFill>
                </a:ln>
                <a:solidFill>
                  <a:schemeClr val="accent6">
                    <a:lumMod val="50000"/>
                  </a:schemeClr>
                </a:solidFill>
                <a:effectLst>
                  <a:outerShdw blurRad="50800" dist="38100" dir="2700000" algn="tl" rotWithShape="0">
                    <a:prstClr val="black">
                      <a:alpha val="40000"/>
                    </a:prstClr>
                  </a:outerShdw>
                </a:effectLst>
                <a:latin typeface="Arial" pitchFamily="34" charset="0"/>
                <a:cs typeface="Arial" pitchFamily="34" charset="0"/>
              </a:rPr>
              <a:t>Rate Card</a:t>
            </a:r>
          </a:p>
          <a:p>
            <a:pPr algn="ctr"/>
            <a:r>
              <a:rPr lang="en-US" sz="1200" b="1" cap="all" dirty="0" smtClean="0">
                <a:ln w="0">
                  <a:solidFill>
                    <a:schemeClr val="accent6">
                      <a:lumMod val="50000"/>
                    </a:schemeClr>
                  </a:solidFill>
                </a:ln>
                <a:solidFill>
                  <a:schemeClr val="accent6">
                    <a:lumMod val="50000"/>
                  </a:schemeClr>
                </a:solidFill>
                <a:effectLst>
                  <a:outerShdw blurRad="50800" dist="38100" dir="2700000" algn="tl" rotWithShape="0">
                    <a:prstClr val="black">
                      <a:alpha val="40000"/>
                    </a:prstClr>
                  </a:outerShdw>
                </a:effectLst>
                <a:latin typeface="Arial" pitchFamily="34" charset="0"/>
                <a:cs typeface="Arial" pitchFamily="34" charset="0"/>
              </a:rPr>
              <a:t>DB</a:t>
            </a:r>
            <a:endParaRPr lang="en-US" sz="1200" b="1" cap="all" dirty="0">
              <a:ln w="0">
                <a:solidFill>
                  <a:schemeClr val="accent6">
                    <a:lumMod val="50000"/>
                  </a:schemeClr>
                </a:solidFill>
              </a:ln>
              <a:solidFill>
                <a:schemeClr val="accent6">
                  <a:lumMod val="50000"/>
                </a:schemeClr>
              </a:solidFill>
              <a:effectLst>
                <a:outerShdw blurRad="50800" dist="38100" dir="2700000" algn="tl" rotWithShape="0">
                  <a:prstClr val="black">
                    <a:alpha val="40000"/>
                  </a:prstClr>
                </a:outerShdw>
              </a:effectLst>
              <a:latin typeface="Arial" pitchFamily="34" charset="0"/>
              <a:cs typeface="Arial" pitchFamily="34" charset="0"/>
            </a:endParaRPr>
          </a:p>
        </p:txBody>
      </p:sp>
      <p:sp>
        <p:nvSpPr>
          <p:cNvPr id="8" name="Flowchart: Process 7"/>
          <p:cNvSpPr/>
          <p:nvPr/>
        </p:nvSpPr>
        <p:spPr>
          <a:xfrm>
            <a:off x="1189426" y="3657600"/>
            <a:ext cx="1524000" cy="762000"/>
          </a:xfrm>
          <a:prstGeom prst="flowChartProcess">
            <a:avLst/>
          </a:prstGeom>
          <a:solidFill>
            <a:srgbClr val="FFFF0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ln w="3175" cmpd="sng">
                  <a:solidFill>
                    <a:schemeClr val="tx2">
                      <a:lumMod val="50000"/>
                    </a:schemeClr>
                  </a:solidFill>
                  <a:prstDash val="solid"/>
                </a:ln>
                <a:solidFill>
                  <a:schemeClr val="tx2">
                    <a:lumMod val="50000"/>
                  </a:schemeClr>
                </a:solidFill>
                <a:effectLst>
                  <a:outerShdw blurRad="63500" dir="3600000" algn="tl" rotWithShape="0">
                    <a:srgbClr val="000000">
                      <a:alpha val="70000"/>
                    </a:srgbClr>
                  </a:outerShdw>
                </a:effectLst>
              </a:rPr>
              <a:t>Rate Card Manager</a:t>
            </a:r>
            <a:endParaRPr lang="en-US" dirty="0">
              <a:ln w="3175" cmpd="sng">
                <a:solidFill>
                  <a:schemeClr val="tx2">
                    <a:lumMod val="50000"/>
                  </a:schemeClr>
                </a:solidFill>
                <a:prstDash val="solid"/>
              </a:ln>
              <a:solidFill>
                <a:schemeClr val="tx2">
                  <a:lumMod val="50000"/>
                </a:schemeClr>
              </a:solidFill>
              <a:effectLst>
                <a:outerShdw blurRad="63500" dir="3600000" algn="tl" rotWithShape="0">
                  <a:srgbClr val="000000">
                    <a:alpha val="70000"/>
                  </a:srgbClr>
                </a:outerShdw>
              </a:effectLst>
            </a:endParaRPr>
          </a:p>
        </p:txBody>
      </p:sp>
      <p:cxnSp>
        <p:nvCxnSpPr>
          <p:cNvPr id="10" name="Straight Arrow Connector 9"/>
          <p:cNvCxnSpPr>
            <a:stCxn id="8" idx="3"/>
            <a:endCxn id="7" idx="2"/>
          </p:cNvCxnSpPr>
          <p:nvPr/>
        </p:nvCxnSpPr>
        <p:spPr>
          <a:xfrm>
            <a:off x="2713426" y="4038600"/>
            <a:ext cx="1248974"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11" name="Flowchart: Process 10"/>
          <p:cNvSpPr/>
          <p:nvPr/>
        </p:nvSpPr>
        <p:spPr>
          <a:xfrm>
            <a:off x="6010274" y="2764536"/>
            <a:ext cx="2209800" cy="1028699"/>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dirty="0" smtClean="0">
                <a:ln w="3175" cmpd="sng">
                  <a:solidFill>
                    <a:schemeClr val="bg1"/>
                  </a:solidFill>
                  <a:prstDash val="solid"/>
                </a:ln>
                <a:solidFill>
                  <a:schemeClr val="bg1"/>
                </a:solidFill>
                <a:effectLst>
                  <a:outerShdw blurRad="63500" dir="3600000" algn="tl" rotWithShape="0">
                    <a:srgbClr val="000000">
                      <a:alpha val="70000"/>
                    </a:srgbClr>
                  </a:outerShdw>
                </a:effectLst>
              </a:rPr>
              <a:t>View32/SPU</a:t>
            </a:r>
            <a:endParaRPr lang="en-US" sz="2400" dirty="0">
              <a:ln w="3175" cmpd="sng">
                <a:solidFill>
                  <a:schemeClr val="bg1"/>
                </a:solidFill>
                <a:prstDash val="solid"/>
              </a:ln>
              <a:solidFill>
                <a:schemeClr val="bg1"/>
              </a:solidFill>
              <a:effectLst>
                <a:outerShdw blurRad="63500" dir="3600000" algn="tl" rotWithShape="0">
                  <a:srgbClr val="000000">
                    <a:alpha val="70000"/>
                  </a:srgbClr>
                </a:outerShdw>
              </a:effectLst>
            </a:endParaRPr>
          </a:p>
        </p:txBody>
      </p:sp>
      <p:sp>
        <p:nvSpPr>
          <p:cNvPr id="13" name="Flowchart: Magnetic Disk 12"/>
          <p:cNvSpPr/>
          <p:nvPr/>
        </p:nvSpPr>
        <p:spPr>
          <a:xfrm>
            <a:off x="3733800" y="1164336"/>
            <a:ext cx="1333500" cy="1219200"/>
          </a:xfrm>
          <a:prstGeom prst="flowChartMagneticDisk">
            <a:avLst/>
          </a:prstGeom>
          <a:gradFill>
            <a:gsLst>
              <a:gs pos="0">
                <a:schemeClr val="accent1">
                  <a:tint val="100000"/>
                  <a:shade val="100000"/>
                  <a:satMod val="130000"/>
                </a:schemeClr>
              </a:gs>
              <a:gs pos="100000">
                <a:schemeClr val="accent1">
                  <a:tint val="50000"/>
                  <a:shade val="100000"/>
                  <a:satMod val="350000"/>
                </a:schemeClr>
              </a:gs>
            </a:gsLst>
            <a:lin ang="16200000" scaled="0"/>
          </a:gradFill>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SID</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Parallelogram 13"/>
          <p:cNvSpPr/>
          <p:nvPr/>
        </p:nvSpPr>
        <p:spPr>
          <a:xfrm>
            <a:off x="6324600" y="1431036"/>
            <a:ext cx="1752600" cy="685800"/>
          </a:xfrm>
          <a:prstGeom prst="parallelogram">
            <a:avLst/>
          </a:prstGeom>
        </p:spPr>
        <p:style>
          <a:lnRef idx="0">
            <a:schemeClr val="accent4"/>
          </a:lnRef>
          <a:fillRef idx="3">
            <a:schemeClr val="accent4"/>
          </a:fillRef>
          <a:effectRef idx="3">
            <a:schemeClr val="accent4"/>
          </a:effectRef>
          <a:fontRef idx="minor">
            <a:schemeClr val="lt1"/>
          </a:fontRef>
        </p:style>
        <p:txBody>
          <a:bodyPr lIns="0" tIns="0" rIns="0" bIns="0" rtlCol="0" anchor="ctr">
            <a:scene3d>
              <a:camera prst="orthographicFront"/>
              <a:lightRig rig="soft" dir="t">
                <a:rot lat="0" lon="0" rev="10800000"/>
              </a:lightRig>
            </a:scene3d>
            <a:sp3d>
              <a:bevelT w="27940" h="12700"/>
              <a:contourClr>
                <a:srgbClr val="DDDDDD"/>
              </a:contourClr>
            </a:sp3d>
          </a:bodyPr>
          <a:lstStyle/>
          <a:p>
            <a:pPr algn="ctr"/>
            <a:r>
              <a:rPr lang="en-US" dirty="0" smtClean="0">
                <a:ln w="3175" cmpd="sng">
                  <a:solidFill>
                    <a:schemeClr val="tx2">
                      <a:lumMod val="50000"/>
                    </a:schemeClr>
                  </a:solidFill>
                  <a:prstDash val="solid"/>
                </a:ln>
                <a:solidFill>
                  <a:srgbClr val="7030A0"/>
                </a:solidFill>
                <a:effectLst>
                  <a:outerShdw blurRad="63500" dir="3600000" algn="tl" rotWithShape="0">
                    <a:srgbClr val="000000">
                      <a:alpha val="70000"/>
                    </a:srgbClr>
                  </a:outerShdw>
                </a:effectLst>
              </a:rPr>
              <a:t>Campaign Transporter</a:t>
            </a:r>
          </a:p>
        </p:txBody>
      </p:sp>
      <p:sp>
        <p:nvSpPr>
          <p:cNvPr id="21" name="Flowchart: Multidocument 20"/>
          <p:cNvSpPr/>
          <p:nvPr/>
        </p:nvSpPr>
        <p:spPr>
          <a:xfrm>
            <a:off x="1295400" y="2209800"/>
            <a:ext cx="1524000" cy="958856"/>
          </a:xfrm>
          <a:prstGeom prst="flowChartMultidocument">
            <a:avLst/>
          </a:prstGeom>
          <a:ln w="6350">
            <a:solidFill>
              <a:srgbClr val="00B050"/>
            </a:solidFill>
          </a:ln>
        </p:spPr>
        <p:style>
          <a:lnRef idx="0">
            <a:schemeClr val="accent3"/>
          </a:lnRef>
          <a:fillRef idx="3">
            <a:schemeClr val="accent3"/>
          </a:fillRef>
          <a:effectRef idx="3">
            <a:schemeClr val="accent3"/>
          </a:effectRef>
          <a:fontRef idx="minor">
            <a:schemeClr val="lt1"/>
          </a:fontRef>
        </p:style>
        <p:txBody>
          <a:bodyPr bIns="182880" rtlCol="0" anchor="ctr"/>
          <a:lstStyle/>
          <a:p>
            <a:pPr algn="ctr"/>
            <a:r>
              <a:rPr lang="en-US" sz="1600" dirty="0" smtClean="0">
                <a:ln w="3175" cmpd="sng">
                  <a:solidFill>
                    <a:schemeClr val="accent3">
                      <a:lumMod val="50000"/>
                    </a:schemeClr>
                  </a:solidFill>
                  <a:prstDash val="solid"/>
                </a:ln>
                <a:solidFill>
                  <a:schemeClr val="accent3">
                    <a:lumMod val="50000"/>
                  </a:schemeClr>
                </a:solidFill>
                <a:effectLst>
                  <a:outerShdw blurRad="63500" dir="3600000" algn="tl" rotWithShape="0">
                    <a:srgbClr val="000000">
                      <a:alpha val="70000"/>
                    </a:srgbClr>
                  </a:outerShdw>
                </a:effectLst>
              </a:rPr>
              <a:t>Rate Spreadsheets</a:t>
            </a:r>
            <a:endParaRPr lang="en-US" sz="1600" dirty="0">
              <a:ln w="3175" cmpd="sng">
                <a:solidFill>
                  <a:schemeClr val="accent3">
                    <a:lumMod val="50000"/>
                  </a:schemeClr>
                </a:solidFill>
                <a:prstDash val="solid"/>
              </a:ln>
              <a:solidFill>
                <a:schemeClr val="accent3">
                  <a:lumMod val="50000"/>
                </a:schemeClr>
              </a:solidFill>
              <a:effectLst>
                <a:outerShdw blurRad="63500" dir="3600000" algn="tl" rotWithShape="0">
                  <a:srgbClr val="000000">
                    <a:alpha val="70000"/>
                  </a:srgbClr>
                </a:outerShdw>
              </a:effectLst>
            </a:endParaRPr>
          </a:p>
        </p:txBody>
      </p:sp>
      <p:cxnSp>
        <p:nvCxnSpPr>
          <p:cNvPr id="23" name="Straight Arrow Connector 22"/>
          <p:cNvCxnSpPr>
            <a:stCxn id="21" idx="2"/>
            <a:endCxn id="8" idx="0"/>
          </p:cNvCxnSpPr>
          <p:nvPr/>
        </p:nvCxnSpPr>
        <p:spPr>
          <a:xfrm rot="5400000">
            <a:off x="1688798" y="3394972"/>
            <a:ext cx="52525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10200" y="1528572"/>
            <a:ext cx="838200" cy="276999"/>
          </a:xfrm>
          <a:prstGeom prst="rect">
            <a:avLst/>
          </a:prstGeom>
          <a:noFill/>
        </p:spPr>
        <p:txBody>
          <a:bodyPr wrap="square" rtlCol="0">
            <a:spAutoFit/>
          </a:bodyPr>
          <a:lstStyle/>
          <a:p>
            <a:r>
              <a:rPr lang="en-US" sz="1200" b="1" dirty="0" smtClean="0">
                <a:ln w="1905"/>
                <a:solidFill>
                  <a:srgbClr val="0070C0"/>
                </a:solidFill>
                <a:effectLst>
                  <a:innerShdw blurRad="69850" dist="43180" dir="5400000">
                    <a:srgbClr val="000000">
                      <a:alpha val="65000"/>
                    </a:srgbClr>
                  </a:innerShdw>
                </a:effectLst>
              </a:rPr>
              <a:t>Rep IDs</a:t>
            </a:r>
            <a:endParaRPr lang="en-US" sz="1200" b="1" dirty="0">
              <a:ln w="1905"/>
              <a:solidFill>
                <a:srgbClr val="0070C0"/>
              </a:solidFill>
              <a:effectLst>
                <a:innerShdw blurRad="69850" dist="43180" dir="5400000">
                  <a:srgbClr val="000000">
                    <a:alpha val="65000"/>
                  </a:srgbClr>
                </a:innerShdw>
              </a:effectLst>
            </a:endParaRPr>
          </a:p>
        </p:txBody>
      </p:sp>
      <p:sp>
        <p:nvSpPr>
          <p:cNvPr id="32" name="Oval 31"/>
          <p:cNvSpPr/>
          <p:nvPr/>
        </p:nvSpPr>
        <p:spPr>
          <a:xfrm>
            <a:off x="6324600" y="4762499"/>
            <a:ext cx="1609726" cy="6858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600" dirty="0" smtClean="0">
                <a:ln w="3175" cmpd="sng">
                  <a:solidFill>
                    <a:schemeClr val="tx2">
                      <a:lumMod val="50000"/>
                    </a:schemeClr>
                  </a:solidFill>
                  <a:prstDash val="solid"/>
                </a:ln>
                <a:solidFill>
                  <a:schemeClr val="tx2">
                    <a:lumMod val="75000"/>
                  </a:schemeClr>
                </a:solidFill>
                <a:effectLst>
                  <a:outerShdw blurRad="63500" dir="3600000" algn="tl" rotWithShape="0">
                    <a:srgbClr val="000000">
                      <a:alpha val="70000"/>
                    </a:srgbClr>
                  </a:outerShdw>
                </a:effectLst>
              </a:rPr>
              <a:t>Rate Card OLE Server</a:t>
            </a:r>
            <a:endParaRPr lang="en-US" sz="1600" dirty="0">
              <a:ln w="3175" cmpd="sng">
                <a:solidFill>
                  <a:schemeClr val="tx2">
                    <a:lumMod val="50000"/>
                  </a:schemeClr>
                </a:solidFill>
                <a:prstDash val="solid"/>
              </a:ln>
              <a:solidFill>
                <a:schemeClr val="tx2">
                  <a:lumMod val="75000"/>
                </a:schemeClr>
              </a:solidFill>
              <a:effectLst>
                <a:outerShdw blurRad="63500" dir="3600000" algn="tl" rotWithShape="0">
                  <a:srgbClr val="000000">
                    <a:alpha val="70000"/>
                  </a:srgbClr>
                </a:outerShdw>
              </a:effectLst>
            </a:endParaRPr>
          </a:p>
        </p:txBody>
      </p:sp>
      <p:sp>
        <p:nvSpPr>
          <p:cNvPr id="45" name="TextBox 44"/>
          <p:cNvSpPr txBox="1"/>
          <p:nvPr/>
        </p:nvSpPr>
        <p:spPr>
          <a:xfrm>
            <a:off x="6696075" y="2383536"/>
            <a:ext cx="838200" cy="276999"/>
          </a:xfrm>
          <a:prstGeom prst="rect">
            <a:avLst/>
          </a:prstGeom>
          <a:noFill/>
        </p:spPr>
        <p:txBody>
          <a:bodyPr wrap="square" rtlCol="0">
            <a:spAutoFit/>
          </a:bodyPr>
          <a:lstStyle/>
          <a:p>
            <a:r>
              <a:rPr lang="en-US" sz="1200" b="1" dirty="0" smtClean="0">
                <a:ln w="1905"/>
                <a:solidFill>
                  <a:srgbClr val="0070C0"/>
                </a:solidFill>
                <a:effectLst>
                  <a:innerShdw blurRad="69850" dist="43180" dir="5400000">
                    <a:srgbClr val="000000">
                      <a:alpha val="65000"/>
                    </a:srgbClr>
                  </a:innerShdw>
                </a:effectLst>
              </a:rPr>
              <a:t>Rep  IDs</a:t>
            </a:r>
            <a:endParaRPr lang="en-US" sz="1200" b="1" dirty="0">
              <a:ln w="1905"/>
              <a:solidFill>
                <a:srgbClr val="0070C0"/>
              </a:solidFill>
              <a:effectLst>
                <a:innerShdw blurRad="69850" dist="43180" dir="5400000">
                  <a:srgbClr val="000000">
                    <a:alpha val="65000"/>
                  </a:srgbClr>
                </a:innerShdw>
              </a:effectLst>
            </a:endParaRPr>
          </a:p>
        </p:txBody>
      </p:sp>
      <p:cxnSp>
        <p:nvCxnSpPr>
          <p:cNvPr id="48" name="Straight Arrow Connector 47"/>
          <p:cNvCxnSpPr/>
          <p:nvPr/>
        </p:nvCxnSpPr>
        <p:spPr>
          <a:xfrm rot="5400000">
            <a:off x="6517483" y="4267994"/>
            <a:ext cx="989010" cy="1588"/>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50" name="Straight Arrow Connector 49"/>
          <p:cNvCxnSpPr/>
          <p:nvPr/>
        </p:nvCxnSpPr>
        <p:spPr>
          <a:xfrm rot="5400000" flipH="1" flipV="1">
            <a:off x="6746083" y="4267994"/>
            <a:ext cx="989010" cy="1588"/>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51" name="TextBox 50"/>
          <p:cNvSpPr txBox="1"/>
          <p:nvPr/>
        </p:nvSpPr>
        <p:spPr>
          <a:xfrm>
            <a:off x="6248400" y="4038600"/>
            <a:ext cx="685800" cy="184666"/>
          </a:xfrm>
          <a:prstGeom prst="rect">
            <a:avLst/>
          </a:prstGeom>
          <a:noFill/>
        </p:spPr>
        <p:txBody>
          <a:bodyPr wrap="square" lIns="0" tIns="0" rIns="0" bIns="0" rtlCol="0">
            <a:spAutoFit/>
          </a:bodyPr>
          <a:lstStyle/>
          <a:p>
            <a:pPr algn="r"/>
            <a:r>
              <a:rPr lang="en-US" sz="1200" b="1" dirty="0" smtClean="0">
                <a:ln w="1905"/>
                <a:solidFill>
                  <a:srgbClr val="0070C0"/>
                </a:solidFill>
                <a:effectLst>
                  <a:innerShdw blurRad="69850" dist="43180" dir="5400000">
                    <a:srgbClr val="000000">
                      <a:alpha val="65000"/>
                    </a:srgbClr>
                  </a:innerShdw>
                </a:effectLst>
              </a:rPr>
              <a:t>Schedule</a:t>
            </a:r>
            <a:endParaRPr lang="en-US" sz="1200" b="1" dirty="0">
              <a:ln w="1905"/>
              <a:solidFill>
                <a:srgbClr val="0070C0"/>
              </a:solidFill>
              <a:effectLst>
                <a:innerShdw blurRad="69850" dist="43180" dir="5400000">
                  <a:srgbClr val="000000">
                    <a:alpha val="65000"/>
                  </a:srgbClr>
                </a:innerShdw>
              </a:effectLst>
            </a:endParaRPr>
          </a:p>
        </p:txBody>
      </p:sp>
      <p:sp>
        <p:nvSpPr>
          <p:cNvPr id="53" name="TextBox 52"/>
          <p:cNvSpPr txBox="1"/>
          <p:nvPr/>
        </p:nvSpPr>
        <p:spPr>
          <a:xfrm>
            <a:off x="7278624" y="4038600"/>
            <a:ext cx="685800" cy="369332"/>
          </a:xfrm>
          <a:prstGeom prst="rect">
            <a:avLst/>
          </a:prstGeom>
          <a:noFill/>
        </p:spPr>
        <p:txBody>
          <a:bodyPr wrap="square" lIns="0" tIns="0" rIns="0" bIns="0" rtlCol="0">
            <a:spAutoFit/>
          </a:bodyPr>
          <a:lstStyle/>
          <a:p>
            <a:pPr algn="r"/>
            <a:r>
              <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Schedule w/Rates</a:t>
            </a: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54" name="TextBox 53"/>
          <p:cNvSpPr txBox="1"/>
          <p:nvPr/>
        </p:nvSpPr>
        <p:spPr>
          <a:xfrm rot="2134036">
            <a:off x="5181599" y="4315599"/>
            <a:ext cx="685800" cy="184666"/>
          </a:xfrm>
          <a:prstGeom prst="rect">
            <a:avLst/>
          </a:prstGeom>
          <a:noFill/>
        </p:spPr>
        <p:txBody>
          <a:bodyPr wrap="square" lIns="0" tIns="0" rIns="0" bIns="0" rtlCol="0">
            <a:spAutoFit/>
          </a:bodyPr>
          <a:lstStyle/>
          <a:p>
            <a:pPr algn="ctr"/>
            <a:r>
              <a:rPr lang="en-US" sz="1200" b="1" dirty="0" smtClean="0">
                <a:ln w="1905"/>
                <a:solidFill>
                  <a:srgbClr val="0070C0"/>
                </a:solidFill>
                <a:effectLst>
                  <a:innerShdw blurRad="69850" dist="43180" dir="5400000">
                    <a:srgbClr val="000000">
                      <a:alpha val="65000"/>
                    </a:srgbClr>
                  </a:innerShdw>
                </a:effectLst>
              </a:rPr>
              <a:t>Rates</a:t>
            </a:r>
            <a:endParaRPr lang="en-US" sz="1200" b="1" dirty="0">
              <a:ln w="1905"/>
              <a:solidFill>
                <a:srgbClr val="0070C0"/>
              </a:solidFill>
              <a:effectLst>
                <a:innerShdw blurRad="69850" dist="43180" dir="5400000">
                  <a:srgbClr val="000000">
                    <a:alpha val="65000"/>
                  </a:srgbClr>
                </a:innerShdw>
              </a:effectLst>
            </a:endParaRPr>
          </a:p>
        </p:txBody>
      </p:sp>
      <p:sp>
        <p:nvSpPr>
          <p:cNvPr id="22" name="Flowchart: Magnetic Disk 21"/>
          <p:cNvSpPr/>
          <p:nvPr/>
        </p:nvSpPr>
        <p:spPr>
          <a:xfrm>
            <a:off x="3429000" y="5105399"/>
            <a:ext cx="838200" cy="628650"/>
          </a:xfrm>
          <a:prstGeom prst="flowChartMagneticDisk">
            <a:avLst/>
          </a:prstGeom>
          <a:ln>
            <a:solidFill>
              <a:schemeClr val="accent6">
                <a:lumMod val="50000"/>
              </a:schemeClr>
            </a:solidFill>
          </a:ln>
        </p:spPr>
        <p:style>
          <a:lnRef idx="0">
            <a:schemeClr val="accent6"/>
          </a:lnRef>
          <a:fillRef idx="3">
            <a:schemeClr val="accent6"/>
          </a:fillRef>
          <a:effectRef idx="3">
            <a:schemeClr val="accent6"/>
          </a:effectRef>
          <a:fontRef idx="minor">
            <a:schemeClr val="lt1"/>
          </a:fontRef>
        </p:style>
        <p:txBody>
          <a:bodyPr lIns="0" tIns="0" rIns="0" bIns="0" rtlCol="0" anchor="b" anchorCtr="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1200" b="1" cap="all" dirty="0" smtClean="0">
                <a:ln w="0">
                  <a:solidFill>
                    <a:schemeClr val="accent6">
                      <a:lumMod val="50000"/>
                    </a:schemeClr>
                  </a:solidFill>
                </a:ln>
                <a:solidFill>
                  <a:schemeClr val="accent6">
                    <a:lumMod val="50000"/>
                  </a:schemeClr>
                </a:solidFill>
                <a:effectLst>
                  <a:outerShdw blurRad="50800" dist="38100" dir="2700000" algn="tl" rotWithShape="0">
                    <a:prstClr val="black">
                      <a:alpha val="40000"/>
                    </a:prstClr>
                  </a:outerShdw>
                </a:effectLst>
                <a:latin typeface="Arial" pitchFamily="34" charset="0"/>
                <a:cs typeface="Arial" pitchFamily="34" charset="0"/>
              </a:rPr>
              <a:t>Mstreet</a:t>
            </a:r>
            <a:endParaRPr lang="en-US" sz="1200" b="1" cap="all" dirty="0">
              <a:ln w="0">
                <a:solidFill>
                  <a:schemeClr val="accent6">
                    <a:lumMod val="50000"/>
                  </a:schemeClr>
                </a:solidFill>
              </a:ln>
              <a:solidFill>
                <a:schemeClr val="accent6">
                  <a:lumMod val="50000"/>
                </a:schemeClr>
              </a:solidFill>
              <a:effectLst>
                <a:outerShdw blurRad="50800" dist="38100" dir="2700000" algn="tl" rotWithShape="0">
                  <a:prstClr val="black">
                    <a:alpha val="40000"/>
                  </a:prstClr>
                </a:outerShdw>
              </a:effectLst>
              <a:latin typeface="Arial" pitchFamily="34" charset="0"/>
              <a:cs typeface="Arial" pitchFamily="34" charset="0"/>
            </a:endParaRPr>
          </a:p>
        </p:txBody>
      </p:sp>
      <p:cxnSp>
        <p:nvCxnSpPr>
          <p:cNvPr id="25" name="Straight Arrow Connector 24"/>
          <p:cNvCxnSpPr>
            <a:stCxn id="22" idx="2"/>
            <a:endCxn id="8" idx="2"/>
          </p:cNvCxnSpPr>
          <p:nvPr/>
        </p:nvCxnSpPr>
        <p:spPr>
          <a:xfrm flipH="1" flipV="1">
            <a:off x="1951426" y="4419600"/>
            <a:ext cx="1477574" cy="100012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22" idx="4"/>
            <a:endCxn id="32" idx="3"/>
          </p:cNvCxnSpPr>
          <p:nvPr/>
        </p:nvCxnSpPr>
        <p:spPr>
          <a:xfrm flipV="1">
            <a:off x="4267200" y="5347866"/>
            <a:ext cx="2293139" cy="718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7" idx="4"/>
            <a:endCxn id="32" idx="2"/>
          </p:cNvCxnSpPr>
          <p:nvPr/>
        </p:nvCxnSpPr>
        <p:spPr>
          <a:xfrm>
            <a:off x="4800600" y="4038600"/>
            <a:ext cx="1524000" cy="10667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13" idx="4"/>
            <a:endCxn id="14" idx="5"/>
          </p:cNvCxnSpPr>
          <p:nvPr/>
        </p:nvCxnSpPr>
        <p:spPr>
          <a:xfrm>
            <a:off x="5067300" y="1773936"/>
            <a:ext cx="134302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14" idx="3"/>
            <a:endCxn id="11" idx="0"/>
          </p:cNvCxnSpPr>
          <p:nvPr/>
        </p:nvCxnSpPr>
        <p:spPr>
          <a:xfrm flipH="1">
            <a:off x="7115174" y="2116836"/>
            <a:ext cx="1" cy="647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Rate Card Factors and Indices</a:t>
            </a:r>
            <a:endParaRPr lang="en-US" dirty="0"/>
          </a:p>
        </p:txBody>
      </p:sp>
      <p:pic>
        <p:nvPicPr>
          <p:cNvPr id="4" name="Picture 3" descr="Rate Card Defaults.jpg"/>
          <p:cNvPicPr>
            <a:picLocks noChangeAspect="1"/>
          </p:cNvPicPr>
          <p:nvPr/>
        </p:nvPicPr>
        <p:blipFill>
          <a:blip r:embed="rId2"/>
          <a:stretch>
            <a:fillRect/>
          </a:stretch>
        </p:blipFill>
        <p:spPr>
          <a:xfrm>
            <a:off x="457200" y="1108710"/>
            <a:ext cx="5974080" cy="4640580"/>
          </a:xfrm>
          <a:prstGeom prst="rect">
            <a:avLst/>
          </a:prstGeom>
        </p:spPr>
      </p:pic>
      <p:sp>
        <p:nvSpPr>
          <p:cNvPr id="6" name="Rectangle 5"/>
          <p:cNvSpPr/>
          <p:nvPr/>
        </p:nvSpPr>
        <p:spPr>
          <a:xfrm>
            <a:off x="3276600" y="1371600"/>
            <a:ext cx="1905000" cy="60960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Daypart does not match any in DB or Rep ID does not match the Default Rate will be applied</a:t>
            </a:r>
            <a:endParaRPr lang="en-US" sz="1000" dirty="0">
              <a:solidFill>
                <a:schemeClr val="tx1"/>
              </a:solidFill>
              <a:latin typeface="Calibri" pitchFamily="34" charset="0"/>
            </a:endParaRPr>
          </a:p>
        </p:txBody>
      </p:sp>
      <p:cxnSp>
        <p:nvCxnSpPr>
          <p:cNvPr id="8" name="Straight Arrow Connector 7"/>
          <p:cNvCxnSpPr/>
          <p:nvPr/>
        </p:nvCxnSpPr>
        <p:spPr>
          <a:xfrm rot="5400000">
            <a:off x="2971800" y="2057400"/>
            <a:ext cx="381000" cy="2286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9" name="Rectangle 8"/>
          <p:cNvSpPr/>
          <p:nvPr/>
        </p:nvSpPr>
        <p:spPr>
          <a:xfrm>
            <a:off x="457200" y="4038600"/>
            <a:ext cx="1371600" cy="83820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Rate is calculated based on indices or factors an is above this amount, it will be set to this value</a:t>
            </a:r>
            <a:endParaRPr lang="en-US" sz="1000" dirty="0">
              <a:solidFill>
                <a:schemeClr val="tx1"/>
              </a:solidFill>
              <a:latin typeface="Calibri" pitchFamily="34" charset="0"/>
            </a:endParaRPr>
          </a:p>
        </p:txBody>
      </p:sp>
      <p:cxnSp>
        <p:nvCxnSpPr>
          <p:cNvPr id="11" name="Straight Arrow Connector 10"/>
          <p:cNvCxnSpPr/>
          <p:nvPr/>
        </p:nvCxnSpPr>
        <p:spPr>
          <a:xfrm rot="5400000" flipH="1" flipV="1">
            <a:off x="1524000" y="3200400"/>
            <a:ext cx="1143000" cy="5334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12" name="Rectangle 11"/>
          <p:cNvSpPr/>
          <p:nvPr/>
        </p:nvSpPr>
        <p:spPr>
          <a:xfrm>
            <a:off x="6431280" y="748665"/>
            <a:ext cx="2484120" cy="72009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there is no 10 sec spot length for the daypart in the Rate Card db and the daypart exists in the db with a 60 sec spot length , apply this factor to the 60 second rate</a:t>
            </a:r>
            <a:endParaRPr lang="en-US" sz="1000" dirty="0">
              <a:solidFill>
                <a:schemeClr val="tx1"/>
              </a:solidFill>
              <a:latin typeface="Calibri" pitchFamily="34" charset="0"/>
            </a:endParaRPr>
          </a:p>
        </p:txBody>
      </p:sp>
      <p:cxnSp>
        <p:nvCxnSpPr>
          <p:cNvPr id="14" name="Straight Arrow Connector 13"/>
          <p:cNvCxnSpPr/>
          <p:nvPr/>
        </p:nvCxnSpPr>
        <p:spPr>
          <a:xfrm rot="5400000">
            <a:off x="5778818" y="1709737"/>
            <a:ext cx="893445" cy="41148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15" name="Rectangle 14"/>
          <p:cNvSpPr/>
          <p:nvPr/>
        </p:nvSpPr>
        <p:spPr>
          <a:xfrm>
            <a:off x="6583680" y="1642110"/>
            <a:ext cx="2484120" cy="72009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there is no 15 sec spot length for the daypart in the Rate Card db and the daypart exists in the db with a 60 sec spot length , apply this factor to the 60 second rate</a:t>
            </a:r>
            <a:endParaRPr lang="en-US" sz="1000" dirty="0">
              <a:solidFill>
                <a:schemeClr val="tx1"/>
              </a:solidFill>
              <a:latin typeface="Calibri" pitchFamily="34" charset="0"/>
            </a:endParaRPr>
          </a:p>
        </p:txBody>
      </p:sp>
      <p:cxnSp>
        <p:nvCxnSpPr>
          <p:cNvPr id="17" name="Straight Arrow Connector 16"/>
          <p:cNvCxnSpPr/>
          <p:nvPr/>
        </p:nvCxnSpPr>
        <p:spPr>
          <a:xfrm rot="10800000" flipV="1">
            <a:off x="6172200" y="2362200"/>
            <a:ext cx="411480" cy="2286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18" name="Rectangle 17"/>
          <p:cNvSpPr/>
          <p:nvPr/>
        </p:nvSpPr>
        <p:spPr>
          <a:xfrm>
            <a:off x="6583680" y="2535555"/>
            <a:ext cx="2484120" cy="72009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there is no 30 sec spot length for the daypart in the Rate Card db and the daypart exists in the db with a 60 sec spot length , apply this factor to the 60 second rate</a:t>
            </a:r>
            <a:endParaRPr lang="en-US" sz="1000" dirty="0">
              <a:solidFill>
                <a:schemeClr val="tx1"/>
              </a:solidFill>
              <a:latin typeface="Calibri" pitchFamily="34" charset="0"/>
            </a:endParaRPr>
          </a:p>
        </p:txBody>
      </p:sp>
      <p:cxnSp>
        <p:nvCxnSpPr>
          <p:cNvPr id="20" name="Straight Arrow Connector 19"/>
          <p:cNvCxnSpPr>
            <a:stCxn id="18" idx="1"/>
          </p:cNvCxnSpPr>
          <p:nvPr/>
        </p:nvCxnSpPr>
        <p:spPr>
          <a:xfrm rot="10800000">
            <a:off x="6172200" y="2895600"/>
            <a:ext cx="411480" cy="1588"/>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6172200" y="3581400"/>
            <a:ext cx="2484120" cy="144780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the daypart entered in View is up to 6 days less than the daypart in the RC db, use the Rate and apply the index value to it based on the Index unit.  For example if the daypart in the db is M-Su 6a-7p and the user enters M-F 6a-7p (2 days less) in View and the index value is +$5.00 per day, the rate would be the rate from the db plus $5.00 per day for two days added onto the rate.</a:t>
            </a:r>
            <a:endParaRPr lang="en-US" sz="1000" dirty="0">
              <a:solidFill>
                <a:schemeClr val="tx1"/>
              </a:solidFill>
              <a:latin typeface="Calibri" pitchFamily="34" charset="0"/>
            </a:endParaRPr>
          </a:p>
        </p:txBody>
      </p:sp>
      <p:cxnSp>
        <p:nvCxnSpPr>
          <p:cNvPr id="23" name="Straight Arrow Connector 22"/>
          <p:cNvCxnSpPr>
            <a:stCxn id="21" idx="1"/>
          </p:cNvCxnSpPr>
          <p:nvPr/>
        </p:nvCxnSpPr>
        <p:spPr>
          <a:xfrm rot="10800000" flipV="1">
            <a:off x="5638800" y="4305300"/>
            <a:ext cx="533400" cy="381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24" name="Rectangle 23"/>
          <p:cNvSpPr/>
          <p:nvPr/>
        </p:nvSpPr>
        <p:spPr>
          <a:xfrm>
            <a:off x="2034539" y="5749290"/>
            <a:ext cx="3909061" cy="956310"/>
          </a:xfrm>
          <a:prstGeom prst="rect">
            <a:avLst/>
          </a:prstGeom>
          <a:solidFill>
            <a:srgbClr val="FFFF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00" dirty="0" smtClean="0">
                <a:solidFill>
                  <a:schemeClr val="tx1"/>
                </a:solidFill>
                <a:latin typeface="Calibri" pitchFamily="34" charset="0"/>
              </a:rPr>
              <a:t>If the daypart entered in View is up to 23.75 hours less than the daypart in the RC db, use the Rate and apply the index value to it based on the Index unit.  For example if the daypart in the db is M-W 6a-6a (24 hours) and the user enters M-W 6a-12n (6 Hours, 18 hours less) in View and the index value is +$1.00 per hour, the rate would be the rate from the db plus $1.00 per hour for 18 hours added onto the rate.</a:t>
            </a:r>
            <a:endParaRPr lang="en-US" sz="1000" dirty="0">
              <a:solidFill>
                <a:schemeClr val="tx1"/>
              </a:solidFill>
              <a:latin typeface="Calibri" pitchFamily="34" charset="0"/>
            </a:endParaRPr>
          </a:p>
        </p:txBody>
      </p:sp>
      <p:cxnSp>
        <p:nvCxnSpPr>
          <p:cNvPr id="26" name="Straight Arrow Connector 25"/>
          <p:cNvCxnSpPr>
            <a:stCxn id="24" idx="0"/>
          </p:cNvCxnSpPr>
          <p:nvPr/>
        </p:nvCxnSpPr>
        <p:spPr>
          <a:xfrm rot="16200000" flipV="1">
            <a:off x="3234690" y="4994910"/>
            <a:ext cx="720090" cy="78867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Rate Card Calculations</a:t>
            </a:r>
            <a:br>
              <a:rPr lang="en-US" dirty="0" smtClean="0"/>
            </a:br>
            <a:r>
              <a:rPr lang="en-US" sz="1600" dirty="0" smtClean="0"/>
              <a:t>Using Spot Duration Factors</a:t>
            </a:r>
            <a:endParaRPr lang="en-US" sz="1600" dirty="0"/>
          </a:p>
        </p:txBody>
      </p:sp>
      <p:sp>
        <p:nvSpPr>
          <p:cNvPr id="6" name="Text Placeholder 5"/>
          <p:cNvSpPr>
            <a:spLocks noGrp="1"/>
          </p:cNvSpPr>
          <p:nvPr>
            <p:ph type="body" sz="quarter" idx="10"/>
          </p:nvPr>
        </p:nvSpPr>
        <p:spPr>
          <a:xfrm>
            <a:off x="609600" y="1143000"/>
            <a:ext cx="7620000" cy="4876800"/>
          </a:xfrm>
        </p:spPr>
        <p:txBody>
          <a:bodyPr anchor="t" anchorCtr="0"/>
          <a:lstStyle/>
          <a:p>
            <a:r>
              <a:rPr lang="en-US" sz="1000" b="1" i="1" dirty="0" smtClean="0">
                <a:latin typeface="+mn-lt"/>
              </a:rPr>
              <a:t>Dayparts are matched between </a:t>
            </a:r>
            <a:r>
              <a:rPr lang="en-US" sz="1000" b="1" i="1" dirty="0" smtClean="0">
                <a:latin typeface="+mn-lt"/>
              </a:rPr>
              <a:t>VIEW32/SPU </a:t>
            </a:r>
            <a:r>
              <a:rPr lang="en-US" sz="1000" b="1" i="1" dirty="0" smtClean="0">
                <a:latin typeface="+mn-lt"/>
              </a:rPr>
              <a:t>and RCM using the following logic:</a:t>
            </a:r>
          </a:p>
          <a:p>
            <a:r>
              <a:rPr lang="en-US" sz="1000" dirty="0" smtClean="0">
                <a:latin typeface="+mn-lt"/>
              </a:rPr>
              <a:t>If there is a daypart match that also matches on Spot Duration, use this rate as rate for View.  If there is a daypart match but no Spot Duration match and there is a matching daypart within the db with a Spot Duration of 60, use that as the base rate and index it using the Spot Duration Factors.  If there is a daypart match and no Spot Duration match and no 60 second duration match, then use the default rate as the rate for View.  For example, if there are the following </a:t>
            </a:r>
            <a:r>
              <a:rPr lang="en-US" sz="1000" dirty="0" err="1" smtClean="0">
                <a:latin typeface="+mn-lt"/>
              </a:rPr>
              <a:t>dayparts</a:t>
            </a:r>
            <a:r>
              <a:rPr lang="en-US" sz="1000" dirty="0" smtClean="0">
                <a:latin typeface="+mn-lt"/>
              </a:rPr>
              <a:t> and rates in RCM:</a:t>
            </a:r>
          </a:p>
          <a:p>
            <a:r>
              <a:rPr lang="en-US" sz="1000" dirty="0" smtClean="0">
                <a:latin typeface="+mn-lt"/>
              </a:rPr>
              <a:t> </a:t>
            </a:r>
          </a:p>
          <a:p>
            <a:r>
              <a:rPr lang="en-US" sz="1000" b="1" dirty="0" smtClean="0">
                <a:latin typeface="+mn-lt"/>
              </a:rPr>
              <a:t>Daypart                Spot Duration    Rate</a:t>
            </a:r>
          </a:p>
          <a:p>
            <a:r>
              <a:rPr lang="en-US" sz="1000" dirty="0" smtClean="0">
                <a:latin typeface="+mn-lt"/>
              </a:rPr>
              <a:t>M-F 6p-8p           60 seconds          $100</a:t>
            </a:r>
          </a:p>
          <a:p>
            <a:r>
              <a:rPr lang="en-US" sz="1000" dirty="0" smtClean="0">
                <a:latin typeface="+mn-lt"/>
              </a:rPr>
              <a:t>M-F 6p-8p           30 seconds          $75</a:t>
            </a:r>
          </a:p>
          <a:p>
            <a:r>
              <a:rPr lang="en-US" sz="1000" dirty="0" smtClean="0">
                <a:latin typeface="+mn-lt"/>
              </a:rPr>
              <a:t>M-F 7p-10p         30 seconds          $150</a:t>
            </a:r>
          </a:p>
          <a:p>
            <a:r>
              <a:rPr lang="en-US" sz="1000" dirty="0" smtClean="0">
                <a:latin typeface="+mn-lt"/>
              </a:rPr>
              <a:t> </a:t>
            </a:r>
          </a:p>
          <a:p>
            <a:r>
              <a:rPr lang="en-US" sz="1000" b="1" dirty="0" smtClean="0">
                <a:latin typeface="+mn-lt"/>
              </a:rPr>
              <a:t>Factors</a:t>
            </a:r>
            <a:r>
              <a:rPr lang="en-US" sz="1000" dirty="0" smtClean="0">
                <a:latin typeface="+mn-lt"/>
              </a:rPr>
              <a:t>: 60 sec = 100%,  30 seconds = 60%,  10 seconds = 30%</a:t>
            </a:r>
          </a:p>
          <a:p>
            <a:r>
              <a:rPr lang="en-US" sz="1000" b="1" dirty="0" smtClean="0">
                <a:latin typeface="+mn-lt"/>
              </a:rPr>
              <a:t>Default Rate </a:t>
            </a:r>
            <a:r>
              <a:rPr lang="en-US" sz="1000" dirty="0" smtClean="0">
                <a:latin typeface="+mn-lt"/>
              </a:rPr>
              <a:t>= $5</a:t>
            </a:r>
          </a:p>
          <a:p>
            <a:r>
              <a:rPr lang="en-US" sz="1000" dirty="0" smtClean="0">
                <a:latin typeface="+mn-lt"/>
              </a:rPr>
              <a:t> In VIEW32, these are the rates that would be assigned to the following daypart / spot duration combinations:</a:t>
            </a:r>
          </a:p>
          <a:p>
            <a:r>
              <a:rPr lang="en-US" sz="1000" dirty="0" smtClean="0">
                <a:latin typeface="+mn-lt"/>
              </a:rPr>
              <a:t> </a:t>
            </a:r>
          </a:p>
          <a:p>
            <a:r>
              <a:rPr lang="en-US" sz="1000" b="1" dirty="0" smtClean="0">
                <a:latin typeface="+mn-lt"/>
              </a:rPr>
              <a:t>Daypart                Spot Duration    Rate       Explanation</a:t>
            </a:r>
          </a:p>
          <a:p>
            <a:r>
              <a:rPr lang="en-US" sz="1000" dirty="0" smtClean="0">
                <a:latin typeface="+mn-lt"/>
              </a:rPr>
              <a:t>M-F 6p-8p           60 seconds          $100       daypart and spot duration match between VIEW32 and RCM</a:t>
            </a:r>
          </a:p>
          <a:p>
            <a:r>
              <a:rPr lang="en-US" sz="1000" dirty="0" smtClean="0">
                <a:latin typeface="+mn-lt"/>
              </a:rPr>
              <a:t>M-F 6p-8p           30 seconds          $75         daypart and spot duration match between VIEW32 and RCM</a:t>
            </a:r>
          </a:p>
          <a:p>
            <a:r>
              <a:rPr lang="en-US" sz="1000" dirty="0" smtClean="0">
                <a:latin typeface="+mn-lt"/>
              </a:rPr>
              <a:t>M-F 6p-8p           10 seconds          $30         daypart match between VIEW32 and RCM, index based on the 60 second rate = $100 * 30%</a:t>
            </a:r>
          </a:p>
          <a:p>
            <a:r>
              <a:rPr lang="en-US" sz="1000" dirty="0" smtClean="0">
                <a:latin typeface="+mn-lt"/>
              </a:rPr>
              <a:t>M-F 6p-8p           90 seconds          $5           daypart match between VIEW32 and RCM, no index information for 90 seconds uses default rate</a:t>
            </a:r>
          </a:p>
          <a:p>
            <a:r>
              <a:rPr lang="en-US" sz="1000" dirty="0" smtClean="0">
                <a:latin typeface="+mn-lt"/>
              </a:rPr>
              <a:t>M-F 7p-10p         30 seconds          $150       daypart and spot duration match between VIEW32 and RCM</a:t>
            </a:r>
          </a:p>
          <a:p>
            <a:r>
              <a:rPr lang="en-US" sz="1000" dirty="0" smtClean="0">
                <a:latin typeface="+mn-lt"/>
              </a:rPr>
              <a:t>M-F 7p-10p         60 seconds          $5           daypart match between VIEW32 and RCM, no 60 second rate in RCM gets default rate</a:t>
            </a:r>
          </a:p>
          <a:p>
            <a:r>
              <a:rPr lang="en-US" sz="1000" dirty="0" smtClean="0">
                <a:latin typeface="+mn-lt"/>
              </a:rPr>
              <a:t>M-F 7p-10p         10 seconds          $5           daypart match between VIEW32 and RCM, no 60 second rate in RCM gets default rate</a:t>
            </a:r>
          </a:p>
          <a:p>
            <a:r>
              <a:rPr lang="en-US" sz="1000" dirty="0" smtClean="0">
                <a:latin typeface="+mn-lt"/>
              </a:rPr>
              <a:t>M-F 7p-10p         90 seconds          $5           daypart match between VIEW32 and RCM, no 60 second rate in RCM gets default rate</a:t>
            </a:r>
          </a:p>
          <a:p>
            <a:r>
              <a:rPr lang="en-US" sz="1000" dirty="0" smtClean="0">
                <a:latin typeface="+mn-lt"/>
              </a:rPr>
              <a:t> </a:t>
            </a:r>
          </a:p>
          <a:p>
            <a:r>
              <a:rPr lang="en-US" sz="1000" dirty="0" smtClean="0">
                <a:latin typeface="+mn-lt"/>
              </a:rPr>
              <a:t>60 seconds is hardcoded as the base rate for Radio.</a:t>
            </a:r>
            <a:endParaRPr lang="en-US" dirty="0" smtClean="0"/>
          </a:p>
          <a:p>
            <a:r>
              <a:rPr lang="en-US" dirty="0" smtClean="0"/>
              <a:t>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to Existing Systems</a:t>
            </a:r>
            <a:endParaRPr lang="en-US" dirty="0"/>
          </a:p>
        </p:txBody>
      </p:sp>
      <p:sp>
        <p:nvSpPr>
          <p:cNvPr id="3" name="Text Placeholder 2"/>
          <p:cNvSpPr>
            <a:spLocks noGrp="1"/>
          </p:cNvSpPr>
          <p:nvPr>
            <p:ph type="body" sz="quarter" idx="10"/>
          </p:nvPr>
        </p:nvSpPr>
        <p:spPr/>
        <p:txBody>
          <a:bodyPr/>
          <a:lstStyle/>
          <a:p>
            <a:r>
              <a:rPr lang="en-US" sz="1000" b="1" dirty="0" smtClean="0">
                <a:latin typeface="+mj-lt"/>
              </a:rPr>
              <a:t>Changes to </a:t>
            </a:r>
            <a:r>
              <a:rPr lang="en-US" sz="1000" b="1" dirty="0" err="1" smtClean="0">
                <a:latin typeface="+mj-lt"/>
              </a:rPr>
              <a:t>Mstreet</a:t>
            </a:r>
            <a:endParaRPr lang="en-US" sz="1000" dirty="0" smtClean="0">
              <a:latin typeface="+mj-lt"/>
            </a:endParaRPr>
          </a:p>
          <a:p>
            <a:r>
              <a:rPr lang="en-US" sz="1000" dirty="0" smtClean="0">
                <a:latin typeface="+mj-lt"/>
              </a:rPr>
              <a:t>Two new fields will be added to the </a:t>
            </a:r>
            <a:r>
              <a:rPr lang="en-US" sz="1000" dirty="0" err="1" smtClean="0">
                <a:latin typeface="+mj-lt"/>
              </a:rPr>
              <a:t>Strata_Profile</a:t>
            </a:r>
            <a:r>
              <a:rPr lang="en-US" sz="1000" dirty="0" smtClean="0">
                <a:latin typeface="+mj-lt"/>
              </a:rPr>
              <a:t> table in the </a:t>
            </a:r>
            <a:r>
              <a:rPr lang="en-US" sz="1000" dirty="0" err="1" smtClean="0">
                <a:latin typeface="+mj-lt"/>
              </a:rPr>
              <a:t>Mstreet</a:t>
            </a:r>
            <a:r>
              <a:rPr lang="en-US" sz="1000" dirty="0" smtClean="0">
                <a:latin typeface="+mj-lt"/>
              </a:rPr>
              <a:t> database. One will be called </a:t>
            </a:r>
            <a:r>
              <a:rPr lang="en-US" sz="1000" dirty="0" err="1" smtClean="0">
                <a:latin typeface="+mj-lt"/>
              </a:rPr>
              <a:t>RepID</a:t>
            </a:r>
            <a:r>
              <a:rPr lang="en-US" sz="1000" dirty="0" smtClean="0">
                <a:latin typeface="+mj-lt"/>
              </a:rPr>
              <a:t> the other will be Band. The </a:t>
            </a:r>
            <a:r>
              <a:rPr lang="en-US" sz="1000" dirty="0" err="1" smtClean="0">
                <a:latin typeface="+mj-lt"/>
              </a:rPr>
              <a:t>RepID</a:t>
            </a:r>
            <a:r>
              <a:rPr lang="en-US" sz="1000" dirty="0" smtClean="0">
                <a:latin typeface="+mj-lt"/>
              </a:rPr>
              <a:t> field will hold a numeric ID for the Rep Company the station is represented by. The band field will be a text field that holds the Band for the station. Currently there is an “A_F” field that holds either “A” or “F” to denote whether the station is AM or FM, digital radio will require additional designations. The new band field will hold “AM” or “FM” for those classifications and </a:t>
            </a:r>
            <a:r>
              <a:rPr lang="en-US" sz="1000" dirty="0" err="1" smtClean="0">
                <a:latin typeface="+mj-lt"/>
              </a:rPr>
              <a:t>Arbitron’s</a:t>
            </a:r>
            <a:r>
              <a:rPr lang="en-US" sz="1000" dirty="0" smtClean="0">
                <a:latin typeface="+mj-lt"/>
              </a:rPr>
              <a:t> new naming conventions for the digital side bands. These fields will be populated by the Reps internal processes on a nightly basis.</a:t>
            </a:r>
          </a:p>
          <a:p>
            <a:r>
              <a:rPr lang="en-US" sz="1000" dirty="0" smtClean="0">
                <a:latin typeface="+mj-lt"/>
              </a:rPr>
              <a:t>New </a:t>
            </a:r>
            <a:r>
              <a:rPr lang="en-US" sz="1000" dirty="0" err="1" smtClean="0">
                <a:latin typeface="+mj-lt"/>
              </a:rPr>
              <a:t>MStreet</a:t>
            </a:r>
            <a:r>
              <a:rPr lang="en-US" sz="1000" dirty="0" smtClean="0">
                <a:latin typeface="+mj-lt"/>
              </a:rPr>
              <a:t> database located in </a:t>
            </a:r>
            <a:r>
              <a:rPr lang="en-US" sz="1000" u="sng" dirty="0" smtClean="0">
                <a:latin typeface="+mj-lt"/>
                <a:hlinkClick r:id="rId2"/>
              </a:rPr>
              <a:t>\\my\share\work\giselle\RCM_Radio</a:t>
            </a:r>
            <a:r>
              <a:rPr lang="en-US" sz="1000" dirty="0" smtClean="0">
                <a:latin typeface="+mj-lt"/>
              </a:rPr>
              <a:t>. </a:t>
            </a:r>
          </a:p>
          <a:p>
            <a:endParaRPr lang="en-US" sz="1000" dirty="0" smtClean="0">
              <a:latin typeface="+mj-lt"/>
            </a:endParaRPr>
          </a:p>
          <a:p>
            <a:r>
              <a:rPr lang="en-US" sz="1000" b="1" dirty="0" smtClean="0">
                <a:latin typeface="+mj-lt"/>
              </a:rPr>
              <a:t>Changes to VIEW32</a:t>
            </a:r>
            <a:endParaRPr lang="en-US" sz="1000" dirty="0" smtClean="0">
              <a:latin typeface="+mj-lt"/>
            </a:endParaRPr>
          </a:p>
          <a:p>
            <a:r>
              <a:rPr lang="en-US" sz="1000" dirty="0" smtClean="0">
                <a:latin typeface="+mj-lt"/>
              </a:rPr>
              <a:t>A hidden field will be added to the Client Information dialog for radio called “Rep Firm.” When an order is launched into VIEW32 from SID, one or more numeric Rep Firm IDs separated by commas will be passed in from the Rep Company Name field in the Header Record of the KTZ file. When calls are made to the Rate Card Manager OLE server, this Rep Firm field will need to be passed along with the schedule’s dayparts</a:t>
            </a:r>
            <a:r>
              <a:rPr lang="en-US" sz="1000" dirty="0" smtClean="0">
                <a:latin typeface="+mj-lt"/>
              </a:rPr>
              <a:t>.  When </a:t>
            </a:r>
            <a:r>
              <a:rPr lang="en-US" sz="1000" dirty="0" smtClean="0">
                <a:latin typeface="+mj-lt"/>
              </a:rPr>
              <a:t>making the </a:t>
            </a:r>
            <a:r>
              <a:rPr lang="en-US" sz="1000" dirty="0" err="1" smtClean="0">
                <a:latin typeface="+mj-lt"/>
              </a:rPr>
              <a:t>GetRates</a:t>
            </a:r>
            <a:r>
              <a:rPr lang="en-US" sz="1000" dirty="0" smtClean="0">
                <a:latin typeface="+mj-lt"/>
              </a:rPr>
              <a:t> call to the OLE server, there will be no </a:t>
            </a:r>
            <a:r>
              <a:rPr lang="en-US" sz="1000" dirty="0" err="1" smtClean="0">
                <a:latin typeface="+mj-lt"/>
              </a:rPr>
              <a:t>syscodes</a:t>
            </a:r>
            <a:r>
              <a:rPr lang="en-US" sz="1000" dirty="0" smtClean="0">
                <a:latin typeface="+mj-lt"/>
              </a:rPr>
              <a:t> to populate the input parameter fields</a:t>
            </a:r>
            <a:r>
              <a:rPr lang="en-US" sz="1000" dirty="0" smtClean="0">
                <a:latin typeface="+mj-lt"/>
              </a:rPr>
              <a:t>.  When dayparts or number of spots are change all Rate </a:t>
            </a:r>
            <a:r>
              <a:rPr lang="en-US" sz="1000" dirty="0">
                <a:latin typeface="+mj-lt"/>
              </a:rPr>
              <a:t>C</a:t>
            </a:r>
            <a:r>
              <a:rPr lang="en-US" sz="1000" dirty="0" smtClean="0">
                <a:latin typeface="+mj-lt"/>
              </a:rPr>
              <a:t>ard rates will be removed from the schedule.</a:t>
            </a:r>
          </a:p>
          <a:p>
            <a:endParaRPr lang="en-US" sz="1000" dirty="0">
              <a:latin typeface="+mj-lt"/>
            </a:endParaRPr>
          </a:p>
          <a:p>
            <a:r>
              <a:rPr lang="en-US" sz="1000" b="1" dirty="0" smtClean="0">
                <a:latin typeface="+mj-lt"/>
              </a:rPr>
              <a:t>Changes to SPU</a:t>
            </a:r>
          </a:p>
          <a:p>
            <a:r>
              <a:rPr lang="en-US" sz="1000" dirty="0" smtClean="0">
                <a:latin typeface="+mj-lt"/>
              </a:rPr>
              <a:t>A Rep ID field was added to the Schedule Editing screen to hold the Rep ID passed by Campaign Transporter.  Also added on the Schedule editing screen is a combo box to allow the user to select an active Rate Card.  A “Refresh” button has also been added to apply rates from the selected Rate Card to the schedule.</a:t>
            </a:r>
          </a:p>
          <a:p>
            <a:endParaRPr lang="en-US" sz="1000" dirty="0" smtClean="0">
              <a:latin typeface="+mj-lt"/>
            </a:endParaRPr>
          </a:p>
          <a:p>
            <a:r>
              <a:rPr lang="en-US" sz="1000" b="1" dirty="0" smtClean="0">
                <a:latin typeface="+mj-lt"/>
              </a:rPr>
              <a:t>Changes to Applying / Refreshing Rates in VIEW32 (Rate Card Manager OLE server)</a:t>
            </a:r>
            <a:endParaRPr lang="en-US" sz="1000" dirty="0" smtClean="0">
              <a:latin typeface="+mj-lt"/>
            </a:endParaRPr>
          </a:p>
          <a:p>
            <a:r>
              <a:rPr lang="en-US" sz="1000" dirty="0" smtClean="0">
                <a:latin typeface="+mj-lt"/>
              </a:rPr>
              <a:t>Currently there is no user level validation done in the OLE server, if the user can apply the </a:t>
            </a:r>
            <a:r>
              <a:rPr lang="en-US" sz="1000" dirty="0" err="1" smtClean="0">
                <a:latin typeface="+mj-lt"/>
              </a:rPr>
              <a:t>syscode</a:t>
            </a:r>
            <a:r>
              <a:rPr lang="en-US" sz="1000" dirty="0" smtClean="0">
                <a:latin typeface="+mj-lt"/>
              </a:rPr>
              <a:t> to the Scheduler, then they can apply rates for all networks within that </a:t>
            </a:r>
            <a:r>
              <a:rPr lang="en-US" sz="1000" dirty="0" err="1" smtClean="0">
                <a:latin typeface="+mj-lt"/>
              </a:rPr>
              <a:t>syscode</a:t>
            </a:r>
            <a:r>
              <a:rPr lang="en-US" sz="1000" dirty="0" smtClean="0">
                <a:latin typeface="+mj-lt"/>
              </a:rPr>
              <a:t>. </a:t>
            </a:r>
          </a:p>
          <a:p>
            <a:r>
              <a:rPr lang="en-US" sz="1000" dirty="0" smtClean="0">
                <a:latin typeface="+mj-lt"/>
              </a:rPr>
              <a:t>For radio, there needs to be user level validation to ensure that the user is only applying rates to the appropriate stations. When the Rate Card Manager OLE server is called, the hidden Rep Firm field from the Client Information dialog will be passed along with the schedule’s dayparts. The OLE server will only return rates for stations where the </a:t>
            </a:r>
            <a:r>
              <a:rPr lang="en-US" sz="1000" dirty="0" err="1" smtClean="0">
                <a:latin typeface="+mj-lt"/>
              </a:rPr>
              <a:t>RepID</a:t>
            </a:r>
            <a:r>
              <a:rPr lang="en-US" sz="1000" dirty="0" smtClean="0">
                <a:latin typeface="+mj-lt"/>
              </a:rPr>
              <a:t> field in the </a:t>
            </a:r>
            <a:r>
              <a:rPr lang="en-US" sz="1000" dirty="0" err="1" smtClean="0">
                <a:latin typeface="+mj-lt"/>
              </a:rPr>
              <a:t>Strata_Profile</a:t>
            </a:r>
            <a:r>
              <a:rPr lang="en-US" sz="1000" dirty="0" smtClean="0">
                <a:latin typeface="+mj-lt"/>
              </a:rPr>
              <a:t> table in the MSTREET database is the same as one of the Rep Firm IDs passed from the Client Information dialog. The RC% and RC$ for all other stations will remain blank. If the Rep Firm in the Client Information dialog is blank, then no rates will be returned by the OLE server. If the Rep Firm field contains “All” the user will have access to rates for all stations.</a:t>
            </a:r>
          </a:p>
          <a:p>
            <a:r>
              <a:rPr lang="en-US" sz="1000" dirty="0" smtClean="0">
                <a:latin typeface="+mj-lt"/>
              </a:rPr>
              <a:t>The current OLE server uses zones to determine which rate to return for a particular daypart line, but radio will only have one rate per line and will not be passing zones. The </a:t>
            </a:r>
            <a:r>
              <a:rPr lang="en-US" sz="1000" dirty="0" err="1" smtClean="0">
                <a:latin typeface="+mj-lt"/>
              </a:rPr>
              <a:t>GetRates</a:t>
            </a:r>
            <a:r>
              <a:rPr lang="en-US" sz="1000" dirty="0" smtClean="0">
                <a:latin typeface="+mj-lt"/>
              </a:rPr>
              <a:t> call will need to be modified to ignore all </a:t>
            </a:r>
            <a:r>
              <a:rPr lang="en-US" sz="1000" dirty="0" err="1" smtClean="0">
                <a:latin typeface="+mj-lt"/>
              </a:rPr>
              <a:t>syscode</a:t>
            </a:r>
            <a:r>
              <a:rPr lang="en-US" sz="1000" dirty="0" smtClean="0">
                <a:latin typeface="+mj-lt"/>
              </a:rPr>
              <a:t> references and simply apply the only rate associated with the matched line.</a:t>
            </a:r>
          </a:p>
          <a:p>
            <a:endParaRPr lang="en-US" sz="10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Spreadsheet Format for Import</a:t>
            </a:r>
            <a:endParaRPr lang="en-US" dirty="0"/>
          </a:p>
        </p:txBody>
      </p:sp>
      <p:sp>
        <p:nvSpPr>
          <p:cNvPr id="7" name="TextBox 6"/>
          <p:cNvSpPr txBox="1"/>
          <p:nvPr/>
        </p:nvSpPr>
        <p:spPr>
          <a:xfrm>
            <a:off x="5791200" y="1000065"/>
            <a:ext cx="3124200" cy="5324535"/>
          </a:xfrm>
          <a:prstGeom prst="rect">
            <a:avLst/>
          </a:prstGeom>
          <a:noFill/>
        </p:spPr>
        <p:txBody>
          <a:bodyPr wrap="square" rtlCol="0">
            <a:spAutoFit/>
          </a:bodyPr>
          <a:lstStyle/>
          <a:p>
            <a:r>
              <a:rPr lang="en-US" sz="1000" b="1" dirty="0" smtClean="0">
                <a:latin typeface="+mj-lt"/>
              </a:rPr>
              <a:t>Automatic Import</a:t>
            </a:r>
          </a:p>
          <a:p>
            <a:r>
              <a:rPr lang="en-US" sz="1000" dirty="0" smtClean="0">
                <a:latin typeface="+mj-lt"/>
              </a:rPr>
              <a:t>Spreadsheets can be automatically imported into  database by running the RCM app from the command line with the “</a:t>
            </a:r>
            <a:r>
              <a:rPr lang="en-US" sz="1000" dirty="0" err="1" smtClean="0">
                <a:latin typeface="+mj-lt"/>
              </a:rPr>
              <a:t>AutoImport</a:t>
            </a:r>
            <a:r>
              <a:rPr lang="en-US" sz="1000" dirty="0" smtClean="0">
                <a:latin typeface="+mj-lt"/>
              </a:rPr>
              <a:t>” switch (case sensitive) .  For example (c:\program files\RCM\ratecardmanager.exe </a:t>
            </a:r>
            <a:r>
              <a:rPr lang="en-US" sz="1000" dirty="0" err="1" smtClean="0">
                <a:latin typeface="+mj-lt"/>
              </a:rPr>
              <a:t>AutoImport</a:t>
            </a:r>
            <a:r>
              <a:rPr lang="en-US" sz="1000" dirty="0" smtClean="0">
                <a:latin typeface="+mj-lt"/>
              </a:rPr>
              <a:t>”</a:t>
            </a:r>
          </a:p>
          <a:p>
            <a:endParaRPr lang="en-US" sz="1000" dirty="0" smtClean="0">
              <a:latin typeface="+mj-lt"/>
            </a:endParaRPr>
          </a:p>
          <a:p>
            <a:r>
              <a:rPr lang="en-US" sz="1000" dirty="0" smtClean="0">
                <a:latin typeface="+mj-lt"/>
              </a:rPr>
              <a:t>The </a:t>
            </a:r>
            <a:r>
              <a:rPr lang="en-US" sz="1000" dirty="0" err="1" smtClean="0">
                <a:latin typeface="+mj-lt"/>
              </a:rPr>
              <a:t>Autoimport</a:t>
            </a:r>
            <a:r>
              <a:rPr lang="en-US" sz="1000" dirty="0" smtClean="0">
                <a:latin typeface="+mj-lt"/>
              </a:rPr>
              <a:t> requires the path to the spreadsheets to be set in an </a:t>
            </a:r>
            <a:r>
              <a:rPr lang="en-US" sz="1000" dirty="0" err="1" smtClean="0">
                <a:latin typeface="+mj-lt"/>
              </a:rPr>
              <a:t>ini</a:t>
            </a:r>
            <a:r>
              <a:rPr lang="en-US" sz="1000" dirty="0" smtClean="0">
                <a:latin typeface="+mj-lt"/>
              </a:rPr>
              <a:t> file. The name of the </a:t>
            </a:r>
            <a:r>
              <a:rPr lang="en-US" sz="1000" dirty="0" err="1" smtClean="0">
                <a:latin typeface="+mj-lt"/>
              </a:rPr>
              <a:t>ini</a:t>
            </a:r>
            <a:r>
              <a:rPr lang="en-US" sz="1000" dirty="0" smtClean="0">
                <a:latin typeface="+mj-lt"/>
              </a:rPr>
              <a:t> file is AutoImportDir.ini and has to be in the same directory as the RCM executable. </a:t>
            </a:r>
          </a:p>
          <a:p>
            <a:endParaRPr lang="en-US" sz="1000" dirty="0" smtClean="0">
              <a:latin typeface="+mj-lt"/>
            </a:endParaRPr>
          </a:p>
          <a:p>
            <a:r>
              <a:rPr lang="en-US" sz="1000" dirty="0" smtClean="0">
                <a:latin typeface="+mj-lt"/>
              </a:rPr>
              <a:t>There are two entries in the </a:t>
            </a:r>
            <a:r>
              <a:rPr lang="en-US" sz="1000" dirty="0" err="1" smtClean="0">
                <a:latin typeface="+mj-lt"/>
              </a:rPr>
              <a:t>ini</a:t>
            </a:r>
            <a:r>
              <a:rPr lang="en-US" sz="1000" dirty="0" smtClean="0">
                <a:latin typeface="+mj-lt"/>
              </a:rPr>
              <a:t> file:</a:t>
            </a:r>
          </a:p>
          <a:p>
            <a:r>
              <a:rPr lang="en-US" sz="1000" b="1" dirty="0" err="1" smtClean="0">
                <a:latin typeface="+mj-lt"/>
              </a:rPr>
              <a:t>ImportDir</a:t>
            </a:r>
            <a:r>
              <a:rPr lang="en-US" sz="1000" b="1" dirty="0" smtClean="0">
                <a:latin typeface="+mj-lt"/>
              </a:rPr>
              <a:t>=c:\import</a:t>
            </a:r>
            <a:endParaRPr lang="en-US" sz="1000" dirty="0" smtClean="0">
              <a:latin typeface="+mj-lt"/>
            </a:endParaRPr>
          </a:p>
          <a:p>
            <a:r>
              <a:rPr lang="en-US" sz="1000" b="1" dirty="0" err="1" smtClean="0">
                <a:latin typeface="+mj-lt"/>
              </a:rPr>
              <a:t>ImportedDir</a:t>
            </a:r>
            <a:r>
              <a:rPr lang="en-US" sz="1000" b="1" dirty="0" smtClean="0">
                <a:latin typeface="+mj-lt"/>
              </a:rPr>
              <a:t>=c:\imported</a:t>
            </a:r>
            <a:endParaRPr lang="en-US" sz="1000" dirty="0" smtClean="0">
              <a:latin typeface="+mj-lt"/>
            </a:endParaRPr>
          </a:p>
          <a:p>
            <a:endParaRPr lang="en-US" sz="1000" dirty="0" smtClean="0">
              <a:latin typeface="+mj-lt"/>
            </a:endParaRPr>
          </a:p>
          <a:p>
            <a:r>
              <a:rPr lang="en-US" sz="1000" dirty="0" smtClean="0">
                <a:latin typeface="+mj-lt"/>
              </a:rPr>
              <a:t>“</a:t>
            </a:r>
            <a:r>
              <a:rPr lang="en-US" sz="1000" dirty="0" err="1" smtClean="0">
                <a:latin typeface="+mj-lt"/>
              </a:rPr>
              <a:t>ImportDir</a:t>
            </a:r>
            <a:r>
              <a:rPr lang="en-US" sz="1000" dirty="0" smtClean="0">
                <a:latin typeface="+mj-lt"/>
              </a:rPr>
              <a:t>” holds the path to the spreadsheets to be imported. “</a:t>
            </a:r>
            <a:r>
              <a:rPr lang="en-US" sz="1000" dirty="0" err="1" smtClean="0">
                <a:latin typeface="+mj-lt"/>
              </a:rPr>
              <a:t>ImportedDir</a:t>
            </a:r>
            <a:r>
              <a:rPr lang="en-US" sz="1000" dirty="0" smtClean="0">
                <a:latin typeface="+mj-lt"/>
              </a:rPr>
              <a:t>” holds the path where the spreadsheets will be moved to after they are imported.</a:t>
            </a:r>
          </a:p>
          <a:p>
            <a:endParaRPr lang="en-US" sz="1000" dirty="0" smtClean="0">
              <a:latin typeface="+mj-lt"/>
            </a:endParaRPr>
          </a:p>
          <a:p>
            <a:r>
              <a:rPr lang="en-US" sz="1000" dirty="0" smtClean="0">
                <a:latin typeface="+mj-lt"/>
              </a:rPr>
              <a:t>The “</a:t>
            </a:r>
            <a:r>
              <a:rPr lang="en-US" sz="1000" dirty="0" err="1" smtClean="0">
                <a:latin typeface="+mj-lt"/>
              </a:rPr>
              <a:t>Autoimport</a:t>
            </a:r>
            <a:r>
              <a:rPr lang="en-US" sz="1000" dirty="0" smtClean="0">
                <a:latin typeface="+mj-lt"/>
              </a:rPr>
              <a:t>” switch will do the following:</a:t>
            </a:r>
          </a:p>
          <a:p>
            <a:endParaRPr lang="en-US" sz="1000" dirty="0" smtClean="0">
              <a:latin typeface="+mj-lt"/>
            </a:endParaRPr>
          </a:p>
          <a:p>
            <a:pPr lvl="0">
              <a:buFont typeface="Wingdings" pitchFamily="2" charset="2"/>
              <a:buChar char="q"/>
            </a:pPr>
            <a:r>
              <a:rPr lang="en-US" sz="1000" dirty="0" smtClean="0">
                <a:latin typeface="+mj-lt"/>
              </a:rPr>
              <a:t>If spreadsheet contains bad lines</a:t>
            </a:r>
          </a:p>
          <a:p>
            <a:pPr marL="228600" lvl="1">
              <a:buFont typeface="Wingdings" pitchFamily="2" charset="2"/>
              <a:buChar char="q"/>
            </a:pPr>
            <a:r>
              <a:rPr lang="en-US" sz="1000" dirty="0" smtClean="0">
                <a:latin typeface="+mj-lt"/>
              </a:rPr>
              <a:t> The Good Lines will be imported</a:t>
            </a:r>
          </a:p>
          <a:p>
            <a:pPr marL="228600" lvl="1">
              <a:buFont typeface="Wingdings" pitchFamily="2" charset="2"/>
              <a:buChar char="q"/>
            </a:pPr>
            <a:r>
              <a:rPr lang="en-US" sz="1000" dirty="0" smtClean="0">
                <a:latin typeface="+mj-lt"/>
              </a:rPr>
              <a:t> The Bad lines will be written to log file</a:t>
            </a:r>
          </a:p>
          <a:p>
            <a:pPr marL="228600" lvl="1">
              <a:buFont typeface="Wingdings" pitchFamily="2" charset="2"/>
              <a:buChar char="q"/>
            </a:pPr>
            <a:r>
              <a:rPr lang="en-US" sz="1000" dirty="0" smtClean="0">
                <a:latin typeface="+mj-lt"/>
              </a:rPr>
              <a:t> The Spreadsheet will be moved the \Imported folder</a:t>
            </a:r>
          </a:p>
          <a:p>
            <a:pPr lvl="0">
              <a:buFont typeface="Wingdings" pitchFamily="2" charset="2"/>
              <a:buChar char="q"/>
            </a:pPr>
            <a:r>
              <a:rPr lang="en-US" sz="1000" dirty="0" smtClean="0">
                <a:latin typeface="+mj-lt"/>
              </a:rPr>
              <a:t> If all lines in spreadsheet are bad</a:t>
            </a:r>
          </a:p>
          <a:p>
            <a:pPr marL="228600" lvl="1">
              <a:buFont typeface="Wingdings" pitchFamily="2" charset="2"/>
              <a:buChar char="q"/>
            </a:pPr>
            <a:r>
              <a:rPr lang="en-US" sz="1000" dirty="0" smtClean="0">
                <a:latin typeface="+mj-lt"/>
              </a:rPr>
              <a:t> Spreadsheet will not be moved to the \imported folder</a:t>
            </a:r>
          </a:p>
          <a:p>
            <a:pPr marL="228600" lvl="1">
              <a:buFont typeface="Wingdings" pitchFamily="2" charset="2"/>
              <a:buChar char="q"/>
            </a:pPr>
            <a:r>
              <a:rPr lang="en-US" sz="1000" dirty="0" smtClean="0">
                <a:latin typeface="+mj-lt"/>
              </a:rPr>
              <a:t> Log will note that no lines were imported</a:t>
            </a:r>
          </a:p>
          <a:p>
            <a:pPr marL="228600" lvl="1">
              <a:buFont typeface="Wingdings" pitchFamily="2" charset="2"/>
              <a:buChar char="q"/>
            </a:pPr>
            <a:r>
              <a:rPr lang="en-US" sz="1000" dirty="0" smtClean="0">
                <a:latin typeface="+mj-lt"/>
              </a:rPr>
              <a:t> Name of spreadsheet will be written to log file</a:t>
            </a:r>
          </a:p>
          <a:p>
            <a:endParaRPr lang="en-US" sz="1000" dirty="0" smtClean="0">
              <a:latin typeface="+mj-lt"/>
            </a:endParaRPr>
          </a:p>
          <a:p>
            <a:endParaRPr lang="en-US" sz="1000" dirty="0">
              <a:latin typeface="+mj-lt"/>
            </a:endParaRPr>
          </a:p>
        </p:txBody>
      </p:sp>
      <p:sp>
        <p:nvSpPr>
          <p:cNvPr id="8" name="TextBox 7"/>
          <p:cNvSpPr txBox="1"/>
          <p:nvPr/>
        </p:nvSpPr>
        <p:spPr>
          <a:xfrm>
            <a:off x="800100" y="3657600"/>
            <a:ext cx="4419600" cy="2862322"/>
          </a:xfrm>
          <a:prstGeom prst="rect">
            <a:avLst/>
          </a:prstGeom>
          <a:noFill/>
        </p:spPr>
        <p:txBody>
          <a:bodyPr wrap="square" rtlCol="0">
            <a:spAutoFit/>
          </a:bodyPr>
          <a:lstStyle/>
          <a:p>
            <a:r>
              <a:rPr lang="en-US" sz="1000" b="1" dirty="0" smtClean="0">
                <a:latin typeface="+mj-lt"/>
              </a:rPr>
              <a:t>Manual Import</a:t>
            </a:r>
          </a:p>
          <a:p>
            <a:r>
              <a:rPr lang="en-US" sz="1000" dirty="0" smtClean="0">
                <a:latin typeface="+mj-lt"/>
              </a:rPr>
              <a:t>When you are manually importing spreadsheets, each line in the spreadsheet is processed as a daypart.   The “invalid daypart” message in the RCM UI, means there is an issue somewhere on the daypart line and highlights the offending item. Stations will be highlighted if they could not be found in the </a:t>
            </a:r>
            <a:r>
              <a:rPr lang="en-US" sz="1000" dirty="0" err="1" smtClean="0">
                <a:latin typeface="+mj-lt"/>
              </a:rPr>
              <a:t>Mstreet</a:t>
            </a:r>
            <a:r>
              <a:rPr lang="en-US" sz="1000" dirty="0" smtClean="0">
                <a:latin typeface="+mj-lt"/>
              </a:rPr>
              <a:t> database during the import.</a:t>
            </a:r>
          </a:p>
          <a:p>
            <a:endParaRPr lang="en-US" sz="1000" dirty="0" smtClean="0">
              <a:latin typeface="+mj-lt"/>
            </a:endParaRPr>
          </a:p>
          <a:p>
            <a:r>
              <a:rPr lang="en-US" sz="1000" b="1" dirty="0" smtClean="0">
                <a:latin typeface="+mj-lt"/>
              </a:rPr>
              <a:t>Match Codes</a:t>
            </a:r>
          </a:p>
          <a:p>
            <a:r>
              <a:rPr lang="en-US" sz="1000" dirty="0" smtClean="0">
                <a:latin typeface="+mj-lt"/>
              </a:rPr>
              <a:t>The Match column determines how rates will be applied in View.  The valid Match codes are listed below.</a:t>
            </a:r>
          </a:p>
          <a:p>
            <a:pPr marL="174625" lvl="0" indent="-174625"/>
            <a:r>
              <a:rPr lang="en-US" sz="1000" b="1" dirty="0" smtClean="0">
                <a:latin typeface="+mj-lt"/>
              </a:rPr>
              <a:t>D</a:t>
            </a:r>
            <a:r>
              <a:rPr lang="en-US" sz="1000" dirty="0" smtClean="0">
                <a:latin typeface="+mj-lt"/>
              </a:rPr>
              <a:t> - The days in View must be contained within the RCM daypart days and the time must match exactly.</a:t>
            </a:r>
          </a:p>
          <a:p>
            <a:pPr marL="174625" lvl="0" indent="-174625"/>
            <a:r>
              <a:rPr lang="en-US" sz="1000" b="1" dirty="0" smtClean="0">
                <a:latin typeface="+mj-lt"/>
              </a:rPr>
              <a:t>T</a:t>
            </a:r>
            <a:r>
              <a:rPr lang="en-US" sz="1000" dirty="0" smtClean="0">
                <a:latin typeface="+mj-lt"/>
              </a:rPr>
              <a:t> - The time in View must be contained within the RCM daypart time period and the days must match exactly.</a:t>
            </a:r>
          </a:p>
          <a:p>
            <a:pPr marL="174625" lvl="0" indent="-174625"/>
            <a:r>
              <a:rPr lang="en-US" sz="1000" b="1" dirty="0" smtClean="0">
                <a:latin typeface="+mj-lt"/>
              </a:rPr>
              <a:t>B</a:t>
            </a:r>
            <a:r>
              <a:rPr lang="en-US" sz="1000" dirty="0" smtClean="0">
                <a:latin typeface="+mj-lt"/>
              </a:rPr>
              <a:t> - Both the days and time in View must be contained within the RCM daypart.</a:t>
            </a:r>
          </a:p>
          <a:p>
            <a:pPr marL="174625" lvl="0" indent="-174625"/>
            <a:r>
              <a:rPr lang="en-US" sz="1000" b="1" dirty="0" smtClean="0">
                <a:latin typeface="+mj-lt"/>
              </a:rPr>
              <a:t>E</a:t>
            </a:r>
            <a:r>
              <a:rPr lang="en-US" sz="1000" dirty="0" smtClean="0">
                <a:latin typeface="+mj-lt"/>
              </a:rPr>
              <a:t> - Both the days and time in View must match the RCM daypart exactly</a:t>
            </a:r>
          </a:p>
          <a:p>
            <a:endParaRPr lang="en-US" sz="1000" dirty="0" smtClean="0">
              <a:latin typeface="+mj-lt"/>
            </a:endParaRPr>
          </a:p>
          <a:p>
            <a:endParaRPr lang="en-US" sz="1000" dirty="0">
              <a:latin typeface="+mj-lt"/>
            </a:endParaRPr>
          </a:p>
        </p:txBody>
      </p:sp>
      <p:graphicFrame>
        <p:nvGraphicFramePr>
          <p:cNvPr id="10" name="Table 9"/>
          <p:cNvGraphicFramePr>
            <a:graphicFrameLocks noGrp="1"/>
          </p:cNvGraphicFramePr>
          <p:nvPr/>
        </p:nvGraphicFramePr>
        <p:xfrm>
          <a:off x="800100" y="1097280"/>
          <a:ext cx="4305300" cy="2331720"/>
        </p:xfrm>
        <a:graphic>
          <a:graphicData uri="http://schemas.openxmlformats.org/drawingml/2006/table">
            <a:tbl>
              <a:tblPr/>
              <a:tblGrid>
                <a:gridCol w="355600"/>
                <a:gridCol w="482600"/>
                <a:gridCol w="558800"/>
                <a:gridCol w="533400"/>
                <a:gridCol w="584200"/>
                <a:gridCol w="520700"/>
                <a:gridCol w="584200"/>
                <a:gridCol w="317500"/>
                <a:gridCol w="368300"/>
              </a:tblGrid>
              <a:tr h="129540">
                <a:tc>
                  <a:txBody>
                    <a:bodyPr/>
                    <a:lstStyle/>
                    <a:p>
                      <a:pPr algn="l" fontAlgn="b"/>
                      <a:r>
                        <a:rPr lang="en-US" sz="800" b="1" i="0" u="none" strike="noStrike">
                          <a:solidFill>
                            <a:srgbClr val="000000"/>
                          </a:solidFill>
                          <a:latin typeface="Calibri"/>
                        </a:rPr>
                        <a:t>Market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Start Date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End Date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DayPart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Spot_Length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Description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Station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Match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1" i="0" u="none" strike="noStrike">
                          <a:solidFill>
                            <a:srgbClr val="000000"/>
                          </a:solidFill>
                          <a:latin typeface="Calibri"/>
                        </a:rPr>
                        <a:t>Rate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10A-3P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3P-7P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6A-10A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7P-12A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Sa 6A-7P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Su 6A-7P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KBCY-FM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10A-3P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3P-7P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6A-10A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7P-12A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Sa 6A-7P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Su 6A-7P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KCDD-FM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10A-3P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KEAN-FM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10A-3P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KEAN-FM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3P-7P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KEAN-FM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3P-7P</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KEAN-FM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540">
                <a:tc>
                  <a:txBody>
                    <a:bodyPr/>
                    <a:lstStyle/>
                    <a:p>
                      <a:pPr algn="l" fontAlgn="b"/>
                      <a:r>
                        <a:rPr lang="en-US" sz="800" b="0" i="0" u="none" strike="noStrike">
                          <a:solidFill>
                            <a:srgbClr val="000000"/>
                          </a:solidFill>
                          <a:latin typeface="Calibri"/>
                        </a:rPr>
                        <a:t>ABI</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1/1/2008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12/31/2009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M-F 6A-10A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latin typeface="Calibri"/>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KEAN-FM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latin typeface="Calibri"/>
                        </a:rPr>
                        <a:t>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latin typeface="Calibri"/>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RCM Settings</a:t>
            </a:r>
            <a:endParaRPr lang="en-US" dirty="0"/>
          </a:p>
        </p:txBody>
      </p:sp>
      <p:sp>
        <p:nvSpPr>
          <p:cNvPr id="3" name="Text Placeholder 2"/>
          <p:cNvSpPr>
            <a:spLocks noGrp="1"/>
          </p:cNvSpPr>
          <p:nvPr>
            <p:ph type="body" sz="quarter" idx="10"/>
          </p:nvPr>
        </p:nvSpPr>
        <p:spPr>
          <a:xfrm>
            <a:off x="914400" y="1371600"/>
            <a:ext cx="4724400" cy="3733800"/>
          </a:xfrm>
        </p:spPr>
        <p:txBody>
          <a:bodyPr anchor="t" anchorCtr="0"/>
          <a:lstStyle/>
          <a:p>
            <a:r>
              <a:rPr lang="en-US" sz="1000" dirty="0" smtClean="0">
                <a:latin typeface="+mj-lt"/>
              </a:rPr>
              <a:t>The RCM install needs to set the following Registry items:</a:t>
            </a:r>
          </a:p>
          <a:p>
            <a:r>
              <a:rPr lang="en-US" sz="1000" dirty="0" smtClean="0">
                <a:latin typeface="+mj-lt"/>
              </a:rPr>
              <a:t>[HKEY_LOCAL_MACHINE\Software\VB and VBA Program Settings\</a:t>
            </a:r>
            <a:r>
              <a:rPr lang="en-US" sz="1000" dirty="0" err="1" smtClean="0">
                <a:latin typeface="+mj-lt"/>
              </a:rPr>
              <a:t>RCMRadio</a:t>
            </a:r>
            <a:r>
              <a:rPr lang="en-US" sz="1000" dirty="0" smtClean="0">
                <a:latin typeface="+mj-lt"/>
              </a:rPr>
              <a:t>\Settings] </a:t>
            </a:r>
          </a:p>
          <a:p>
            <a:r>
              <a:rPr lang="en-US" sz="1000" dirty="0" smtClean="0">
                <a:latin typeface="+mj-lt"/>
              </a:rPr>
              <a:t>"SQL Server Name"="SQL Server Name”</a:t>
            </a:r>
          </a:p>
          <a:p>
            <a:r>
              <a:rPr lang="en-US" sz="1000" dirty="0" smtClean="0">
                <a:latin typeface="+mj-lt"/>
              </a:rPr>
              <a:t>"SQL Database Name"="</a:t>
            </a:r>
            <a:r>
              <a:rPr lang="en-US" sz="1000" dirty="0" err="1" smtClean="0">
                <a:latin typeface="+mj-lt"/>
              </a:rPr>
              <a:t>RCMRadio</a:t>
            </a:r>
            <a:r>
              <a:rPr lang="en-US" sz="1000" dirty="0" smtClean="0">
                <a:latin typeface="+mj-lt"/>
              </a:rPr>
              <a:t>" </a:t>
            </a:r>
          </a:p>
          <a:p>
            <a:r>
              <a:rPr lang="en-US" sz="1000" dirty="0" smtClean="0">
                <a:latin typeface="+mj-lt"/>
              </a:rPr>
              <a:t>"SQL Server Username"="login"</a:t>
            </a:r>
          </a:p>
          <a:p>
            <a:r>
              <a:rPr lang="en-US" sz="1000" dirty="0" smtClean="0">
                <a:latin typeface="+mj-lt"/>
              </a:rPr>
              <a:t>"SQL Server Password"="password"</a:t>
            </a:r>
          </a:p>
          <a:p>
            <a:r>
              <a:rPr lang="en-US" sz="1000" dirty="0" smtClean="0">
                <a:solidFill>
                  <a:srgbClr val="FF0000"/>
                </a:solidFill>
                <a:latin typeface="+mj-lt"/>
              </a:rPr>
              <a:t>“Default Rate”=”0”</a:t>
            </a:r>
          </a:p>
          <a:p>
            <a:r>
              <a:rPr lang="en-US" sz="1000" dirty="0" smtClean="0">
                <a:solidFill>
                  <a:srgbClr val="FF0000"/>
                </a:solidFill>
                <a:latin typeface="+mj-lt"/>
              </a:rPr>
              <a:t>“Factor 10s”=”0.25”</a:t>
            </a:r>
          </a:p>
          <a:p>
            <a:r>
              <a:rPr lang="en-US" sz="1000" dirty="0" smtClean="0">
                <a:solidFill>
                  <a:srgbClr val="FF0000"/>
                </a:solidFill>
                <a:latin typeface="+mj-lt"/>
              </a:rPr>
              <a:t>“Factor 120s”=”2”</a:t>
            </a:r>
          </a:p>
          <a:p>
            <a:r>
              <a:rPr lang="en-US" sz="1000" dirty="0" smtClean="0">
                <a:solidFill>
                  <a:srgbClr val="FF0000"/>
                </a:solidFill>
                <a:latin typeface="+mj-lt"/>
              </a:rPr>
              <a:t>“Factor 15s”=”0.75”</a:t>
            </a:r>
          </a:p>
          <a:p>
            <a:r>
              <a:rPr lang="en-US" sz="1000" dirty="0" smtClean="0">
                <a:solidFill>
                  <a:srgbClr val="FF0000"/>
                </a:solidFill>
                <a:latin typeface="+mj-lt"/>
              </a:rPr>
              <a:t>“Factor 1800s”=”5”</a:t>
            </a:r>
          </a:p>
          <a:p>
            <a:r>
              <a:rPr lang="en-US" sz="1000" dirty="0" smtClean="0">
                <a:solidFill>
                  <a:srgbClr val="FF0000"/>
                </a:solidFill>
                <a:latin typeface="+mj-lt"/>
              </a:rPr>
              <a:t>“Factor 30s”=”.5”</a:t>
            </a:r>
          </a:p>
          <a:p>
            <a:r>
              <a:rPr lang="en-US" sz="1000" dirty="0" smtClean="0">
                <a:solidFill>
                  <a:srgbClr val="FF0000"/>
                </a:solidFill>
                <a:latin typeface="+mj-lt"/>
              </a:rPr>
              <a:t>“Factor 60s”=”1”</a:t>
            </a:r>
          </a:p>
          <a:p>
            <a:r>
              <a:rPr lang="en-US" sz="1000" dirty="0" smtClean="0">
                <a:solidFill>
                  <a:srgbClr val="FF0000"/>
                </a:solidFill>
                <a:latin typeface="+mj-lt"/>
              </a:rPr>
              <a:t>“Factor 90s”=”1.5”</a:t>
            </a:r>
          </a:p>
          <a:p>
            <a:r>
              <a:rPr lang="en-US" sz="1000" dirty="0" smtClean="0">
                <a:solidFill>
                  <a:srgbClr val="FF0000"/>
                </a:solidFill>
                <a:latin typeface="+mj-lt"/>
              </a:rPr>
              <a:t>“Index Days”=”6 days $0.00 Per Day”</a:t>
            </a:r>
          </a:p>
          <a:p>
            <a:r>
              <a:rPr lang="en-US" sz="1000" dirty="0" smtClean="0">
                <a:solidFill>
                  <a:srgbClr val="FF0000"/>
                </a:solidFill>
                <a:latin typeface="+mj-lt"/>
              </a:rPr>
              <a:t>“Index Hours”=”23.75 Hours $0.00 Per Hour”</a:t>
            </a:r>
          </a:p>
          <a:p>
            <a:r>
              <a:rPr lang="en-US" sz="1000" dirty="0" smtClean="0">
                <a:solidFill>
                  <a:srgbClr val="FF0000"/>
                </a:solidFill>
                <a:latin typeface="+mj-lt"/>
              </a:rPr>
              <a:t>“Max Rate”=”1000”</a:t>
            </a:r>
          </a:p>
          <a:p>
            <a:r>
              <a:rPr lang="en-US" sz="1000" dirty="0" smtClean="0">
                <a:solidFill>
                  <a:srgbClr val="FF0000"/>
                </a:solidFill>
                <a:latin typeface="+mj-lt"/>
              </a:rPr>
              <a:t>“Rounding Grain”=”0”</a:t>
            </a:r>
          </a:p>
          <a:p>
            <a:r>
              <a:rPr lang="en-US" sz="1000" dirty="0" smtClean="0">
                <a:solidFill>
                  <a:srgbClr val="FF0000"/>
                </a:solidFill>
                <a:latin typeface="+mj-lt"/>
              </a:rPr>
              <a:t>“Rounding Mode”=”~”</a:t>
            </a:r>
          </a:p>
          <a:p>
            <a:r>
              <a:rPr lang="en-US" sz="1000" dirty="0" smtClean="0">
                <a:latin typeface="+mj-lt"/>
              </a:rPr>
              <a:t>“View Path”=”C:\ViewRadio”</a:t>
            </a:r>
          </a:p>
          <a:p>
            <a:endParaRPr lang="en-US" sz="1000" dirty="0" smtClean="0">
              <a:latin typeface="+mj-lt"/>
            </a:endParaRPr>
          </a:p>
          <a:p>
            <a:endParaRPr lang="en-US" sz="1000" dirty="0" smtClean="0">
              <a:latin typeface="+mj-lt"/>
            </a:endParaRPr>
          </a:p>
          <a:p>
            <a:endParaRPr lang="en-US" sz="1000" dirty="0">
              <a:latin typeface="+mj-lt"/>
            </a:endParaRPr>
          </a:p>
        </p:txBody>
      </p:sp>
      <p:sp>
        <p:nvSpPr>
          <p:cNvPr id="4" name="TextBox 3"/>
          <p:cNvSpPr txBox="1"/>
          <p:nvPr/>
        </p:nvSpPr>
        <p:spPr>
          <a:xfrm>
            <a:off x="4343400" y="1981200"/>
            <a:ext cx="4419600" cy="4247317"/>
          </a:xfrm>
          <a:prstGeom prst="rect">
            <a:avLst/>
          </a:prstGeom>
          <a:noFill/>
        </p:spPr>
        <p:txBody>
          <a:bodyPr wrap="square" rtlCol="0">
            <a:spAutoFit/>
          </a:bodyPr>
          <a:lstStyle/>
          <a:p>
            <a:r>
              <a:rPr lang="en-US" sz="1000" dirty="0" smtClean="0"/>
              <a:t>The RCM app relies on Registry Settings to function.</a:t>
            </a:r>
          </a:p>
          <a:p>
            <a:endParaRPr lang="en-US" sz="1000" dirty="0" smtClean="0"/>
          </a:p>
          <a:p>
            <a:r>
              <a:rPr lang="en-US" sz="1000" dirty="0" smtClean="0"/>
              <a:t>When defaults are updated in the RCM application the entries highlighted in </a:t>
            </a:r>
            <a:r>
              <a:rPr lang="en-US" sz="1000" dirty="0" smtClean="0">
                <a:solidFill>
                  <a:srgbClr val="FF0000"/>
                </a:solidFill>
              </a:rPr>
              <a:t>Red</a:t>
            </a:r>
            <a:r>
              <a:rPr lang="en-US" sz="1000" dirty="0" smtClean="0"/>
              <a:t> at left are updated in the registry.  The Admin needs to have rights to update the registry on the applicable machine if defaults are changed.</a:t>
            </a:r>
          </a:p>
          <a:p>
            <a:endParaRPr lang="en-US" sz="1000" dirty="0" smtClean="0"/>
          </a:p>
          <a:p>
            <a:r>
              <a:rPr lang="en-US" sz="1000" dirty="0" smtClean="0"/>
              <a:t>Neither View nor RCM uses the Registry settings on the App servers. They use registry settings on the machine they are being run from. Think of the App servers as an external USB drive, no registry settings need to exist there. The Registry settings need to exist on the machine running the application; the </a:t>
            </a:r>
            <a:r>
              <a:rPr lang="en-US" sz="1000" dirty="0" err="1" smtClean="0"/>
              <a:t>citrix</a:t>
            </a:r>
            <a:r>
              <a:rPr lang="en-US" sz="1000" dirty="0" smtClean="0"/>
              <a:t> server for published apps, or a workstation if running the RCM app from a mapped drive connected to the workstation. Registry settings are only needed on an App server if the application is being locally run on the App server from the console or through remote desktop.</a:t>
            </a:r>
          </a:p>
          <a:p>
            <a:endParaRPr lang="en-US" sz="1000" dirty="0" smtClean="0"/>
          </a:p>
          <a:p>
            <a:r>
              <a:rPr lang="en-US" sz="1000" dirty="0" smtClean="0"/>
              <a:t>If faith is running RCM from a Citrix server, the registry on the Citrix server is in control. If View is being run from a published App, the registry on the Citrix server it is in control. Similarly the scheduling server doesn’t need to have RCM installed on it, it just needs the appropriate registry settings, and run the RCM app from a drive mapped to the App server.</a:t>
            </a:r>
          </a:p>
          <a:p>
            <a:endParaRPr lang="en-US" sz="1000" dirty="0" smtClean="0"/>
          </a:p>
          <a:p>
            <a:r>
              <a:rPr lang="en-US" sz="1000" dirty="0" smtClean="0"/>
              <a:t>The defaults cannot be updated by view users, just the admin group using RCM. The view users are getting the resultant saved Rate Cards through the OLE server. These are default settings that are applied to automatic or manually imported rate cards.</a:t>
            </a:r>
          </a:p>
          <a:p>
            <a:endParaRPr lang="en-US" sz="1000" dirty="0" smtClean="0"/>
          </a:p>
          <a:p>
            <a:endParaRPr lang="en-US" sz="10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Rate Card Logic in View</a:t>
            </a:r>
            <a:endParaRPr lang="en-US" dirty="0"/>
          </a:p>
        </p:txBody>
      </p:sp>
      <p:sp>
        <p:nvSpPr>
          <p:cNvPr id="3" name="Text Placeholder 2"/>
          <p:cNvSpPr>
            <a:spLocks noGrp="1"/>
          </p:cNvSpPr>
          <p:nvPr>
            <p:ph type="body" sz="quarter" idx="10"/>
          </p:nvPr>
        </p:nvSpPr>
        <p:spPr/>
        <p:txBody>
          <a:bodyPr/>
          <a:lstStyle/>
          <a:p>
            <a:r>
              <a:rPr lang="en-US" dirty="0" smtClean="0"/>
              <a:t>Imported Rate Cards will never overwrite existing rates. If you want , Rate Card rates to go into the Unit $ column you must first remove the existing rates by highlighting them and hitting backspace. This allows the user to enter their own rates and see the Rate Card rates at the same time. The RC% column then shows how far the user entered rates are from the Rate Card rates.</a:t>
            </a:r>
          </a:p>
          <a:p>
            <a:endParaRPr lang="en-US" dirty="0" smtClean="0"/>
          </a:p>
          <a:p>
            <a:r>
              <a:rPr lang="en-US" dirty="0" smtClean="0"/>
              <a:t>Rates are applied based on the </a:t>
            </a:r>
            <a:r>
              <a:rPr lang="en-US" dirty="0" err="1" smtClean="0"/>
              <a:t>Strata_ID</a:t>
            </a:r>
            <a:r>
              <a:rPr lang="en-US" dirty="0" smtClean="0"/>
              <a:t> for each station. If the </a:t>
            </a:r>
            <a:r>
              <a:rPr lang="en-US" dirty="0" err="1" smtClean="0"/>
              <a:t>Strata_ID</a:t>
            </a:r>
            <a:r>
              <a:rPr lang="en-US" dirty="0" smtClean="0"/>
              <a:t> is not found, it will look for the call letter to apply rates.</a:t>
            </a:r>
          </a:p>
          <a:p>
            <a:endParaRPr lang="en-US" dirty="0"/>
          </a:p>
        </p:txBody>
      </p:sp>
    </p:spTree>
  </p:cSld>
  <p:clrMapOvr>
    <a:masterClrMapping/>
  </p:clrMapOvr>
</p:sld>
</file>

<file path=ppt/theme/theme1.xml><?xml version="1.0" encoding="utf-8"?>
<a:theme xmlns:a="http://schemas.openxmlformats.org/drawingml/2006/main" name="STRATA White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STRATA White PPT Template</Template>
  <TotalTime>4208</TotalTime>
  <Words>2466</Words>
  <Application>Microsoft Office PowerPoint</Application>
  <PresentationFormat>On-screen Show (4:3)</PresentationFormat>
  <Paragraphs>321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STRATA White PPT Template</vt:lpstr>
      <vt:lpstr>Radio Rate Card Manager</vt:lpstr>
      <vt:lpstr>Rate Card Components</vt:lpstr>
      <vt:lpstr>Mstreet Database</vt:lpstr>
      <vt:lpstr>Rate Card Workflow</vt:lpstr>
      <vt:lpstr>Rate Card Factors and Indices</vt:lpstr>
      <vt:lpstr>Rate Card Calculations Using Spot Duration Factors</vt:lpstr>
      <vt:lpstr>Changes to Existing Systems</vt:lpstr>
      <vt:lpstr>Spreadsheet Format for Import</vt:lpstr>
      <vt:lpstr>RCM Settings</vt:lpstr>
      <vt:lpstr>Rate Card Logic in View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 Rate Card Manager</dc:title>
  <dc:creator>egould</dc:creator>
  <cp:lastModifiedBy>Errol Gould</cp:lastModifiedBy>
  <cp:revision>46</cp:revision>
  <dcterms:created xsi:type="dcterms:W3CDTF">2010-07-26T16:45:56Z</dcterms:created>
  <dcterms:modified xsi:type="dcterms:W3CDTF">2017-03-20T13:46:55Z</dcterms:modified>
</cp:coreProperties>
</file>